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0C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spc="100">
                <a:solidFill>
                  <a:srgbClr val="98A3B0"/>
                </a:solidFill>
                <a:latin typeface="Consolas"/>
              </a:rPr>
              <a:t>Digital Minds Research Sprint  ·  Track 3  ·  Introspection &amp; Self-Report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000" b="1">
                <a:solidFill>
                  <a:srgbClr val="E9EEF4"/>
                </a:solidFill>
                <a:latin typeface="Calibri"/>
              </a:rPr>
              <a:t>Beaten by Eighteen Features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3000" b="0">
                <a:solidFill>
                  <a:srgbClr val="F0C040"/>
                </a:solidFill>
                <a:latin typeface="Calibri"/>
              </a:rPr>
              <a:t>A Capability-Controlled Test of Privileged Self-Access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401568"/>
            <a:ext cx="2377440" cy="19050"/>
          </a:xfrm>
          <a:prstGeom prst="rect">
            <a:avLst/>
          </a:prstGeom>
          <a:solidFill>
            <a:srgbClr val="2A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03320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sz="2100" b="0">
                <a:solidFill>
                  <a:srgbClr val="98A3B0"/>
                </a:solidFill>
                <a:latin typeface="Calibri"/>
              </a:rPr>
              <a:t>Does behavioural self-prediction provide information unavailable to an external observer?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7492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E9EEF4"/>
                </a:solidFill>
                <a:latin typeface="Calibri"/>
              </a:rPr>
              <a:t>Ubayd Hattas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200" b="0">
                <a:solidFill>
                  <a:srgbClr val="98A3B0"/>
                </a:solidFill>
                <a:latin typeface="Calibri"/>
              </a:rPr>
              <a:t>Computer Science, Statistics &amp; Data Science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200" b="0">
                <a:solidFill>
                  <a:srgbClr val="98A3B0"/>
                </a:solidFill>
                <a:latin typeface="Calibri"/>
              </a:rPr>
              <a:t>University of Cape Town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507492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E9EEF4"/>
                </a:solidFill>
                <a:latin typeface="Calibri"/>
              </a:rPr>
              <a:t>Jaswin Chinthala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200" b="0">
                <a:solidFill>
                  <a:srgbClr val="98A3B0"/>
                </a:solidFill>
                <a:latin typeface="Calibri"/>
              </a:rPr>
              <a:t>Electrical Engineering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200" b="0">
                <a:solidFill>
                  <a:srgbClr val="98A3B0"/>
                </a:solidFill>
                <a:latin typeface="Calibri"/>
              </a:rPr>
              <a:t>University of Cape Town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1487" y="507492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300" b="1">
                <a:solidFill>
                  <a:srgbClr val="F0C040"/>
                </a:solidFill>
                <a:latin typeface="Consolas"/>
              </a:rPr>
              <a:t>9,269 scored trials  ·  $3.12</a:t>
            </a:r>
          </a:p>
          <a:p>
            <a:pPr algn="r">
              <a:spcAft>
                <a:spcPts val="800"/>
              </a:spcAft>
            </a:pPr>
            <a:r>
              <a:rPr sz="1150" b="0">
                <a:solidFill>
                  <a:srgbClr val="98A3B0"/>
                </a:solidFill>
                <a:latin typeface="Consolas"/>
              </a:rPr>
              <a:t>github.com/UbaJaz/Digital_Minds_Research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291072"/>
            <a:ext cx="10874959" cy="9525"/>
          </a:xfrm>
          <a:prstGeom prst="rect">
            <a:avLst/>
          </a:prstGeom>
          <a:solidFill>
            <a:srgbClr val="2A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>
                <a:solidFill>
                  <a:srgbClr val="F0C040"/>
                </a:solidFill>
                <a:latin typeface="Consolas"/>
              </a:rPr>
              <a:t>1</a:t>
            </a:r>
            <a:r>
              <a:rPr sz="1050" b="0">
                <a:solidFill>
                  <a:srgbClr val="6B7683"/>
                </a:solidFill>
                <a:latin typeface="Consolas"/>
              </a:rPr>
              <a:t>  /  6     Beaten by Eighteen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spc="160">
                <a:solidFill>
                  <a:srgbClr val="F0C040"/>
                </a:solidFill>
                <a:latin typeface="Consolas"/>
              </a:rPr>
              <a:t>THE QUESTION, AND THE DESIGN THAT CAN ANSWER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87495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800"/>
              </a:spcAft>
            </a:pPr>
            <a:r>
              <a:rPr sz="3100" b="1">
                <a:solidFill>
                  <a:srgbClr val="E9EEF4"/>
                </a:solidFill>
                <a:latin typeface="Calibri"/>
              </a:rPr>
              <a:t>Privileged access means beating a cheap observer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44752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1">
                <a:solidFill>
                  <a:srgbClr val="E9EEF4"/>
                </a:solidFill>
                <a:latin typeface="Calibri"/>
              </a:rPr>
              <a:t>Two confounds block any black-box test. </a:t>
            </a:r>
            <a:r>
              <a:rPr sz="1450" b="0">
                <a:solidFill>
                  <a:srgbClr val="98A3B0"/>
                </a:solidFill>
                <a:latin typeface="Calibri"/>
              </a:rPr>
              <a:t>The self predictor is usually also the strongest model in the comparison, and a hidden property may simply be legible in the text. We remove the first by construction and turn the second into a measurement.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67712"/>
            <a:ext cx="2212848" cy="1517904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000" b="1">
                <a:solidFill>
                  <a:srgbClr val="4A9B4A"/>
                </a:solidFill>
                <a:latin typeface="Consolas"/>
              </a:rPr>
              <a:t>M   </a:t>
            </a:r>
            <a:r>
              <a:rPr sz="1000" b="1">
                <a:solidFill>
                  <a:srgbClr val="6B7683"/>
                </a:solidFill>
                <a:latin typeface="Consolas"/>
              </a:rPr>
              <a:t>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34640"/>
            <a:ext cx="19202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E9EEF4"/>
                </a:solidFill>
                <a:latin typeface="Calibri"/>
              </a:rPr>
              <a:t>Llama-3.1-70B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generates a column;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predicts both</a:t>
            </a:r>
          </a:p>
        </p:txBody>
      </p:sp>
      <p:sp>
        <p:nvSpPr>
          <p:cNvPr id="8" name="Rectangle 7"/>
          <p:cNvSpPr/>
          <p:nvPr/>
        </p:nvSpPr>
        <p:spPr>
          <a:xfrm>
            <a:off x="3054096" y="2267712"/>
            <a:ext cx="2212848" cy="1517904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395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000" b="1">
                <a:solidFill>
                  <a:srgbClr val="4A90D9"/>
                </a:solidFill>
                <a:latin typeface="Consolas"/>
              </a:rPr>
              <a:t>N   </a:t>
            </a:r>
            <a:r>
              <a:rPr sz="1000" b="1">
                <a:solidFill>
                  <a:srgbClr val="6B7683"/>
                </a:solidFill>
                <a:latin typeface="Consolas"/>
              </a:rPr>
              <a:t>SIBLING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834640"/>
            <a:ext cx="19202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E9EEF4"/>
                </a:solidFill>
                <a:latin typeface="Calibri"/>
              </a:rPr>
              <a:t>Hermes-3-70B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same pretrained base;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different post-training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9824" y="2267712"/>
            <a:ext cx="2212848" cy="1517904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96128" y="2395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000" b="1">
                <a:solidFill>
                  <a:srgbClr val="98A3B0"/>
                </a:solidFill>
                <a:latin typeface="Consolas"/>
              </a:rPr>
              <a:t>F   </a:t>
            </a:r>
            <a:r>
              <a:rPr sz="1000" b="1">
                <a:solidFill>
                  <a:srgbClr val="6B7683"/>
                </a:solidFill>
                <a:latin typeface="Consolas"/>
              </a:rPr>
              <a:t>FAR OBSERVER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2834640"/>
            <a:ext cx="19202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E9EEF4"/>
                </a:solidFill>
                <a:latin typeface="Calibri"/>
              </a:rPr>
              <a:t>Mistral-Small-24B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different organisation,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base and family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8" y="1993392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 spc="120">
                <a:solidFill>
                  <a:srgbClr val="F0C040"/>
                </a:solidFill>
                <a:latin typeface="Consolas"/>
              </a:rPr>
              <a:t>CROSSED 2×2 — 24 CELLS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249424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0">
                <a:solidFill>
                  <a:srgbClr val="6B7683"/>
                </a:solidFill>
                <a:latin typeface="Consolas"/>
              </a:rPr>
              <a:t>M's texts      N's texts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8" y="25786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8A3B0"/>
                </a:solidFill>
                <a:latin typeface="Consolas"/>
              </a:rPr>
              <a:t>M predicts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0848" y="2505456"/>
            <a:ext cx="1170432" cy="365760"/>
          </a:xfrm>
          <a:prstGeom prst="rect">
            <a:avLst/>
          </a:prstGeom>
          <a:solidFill>
            <a:srgbClr val="1F3324"/>
          </a:solidFill>
          <a:ln w="12700">
            <a:solidFill>
              <a:srgbClr val="4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4A9B4A"/>
                </a:solidFill>
                <a:latin typeface="Consolas"/>
              </a:rPr>
              <a:t>M→M  self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720" y="2505456"/>
            <a:ext cx="1170432" cy="365760"/>
          </a:xfrm>
          <a:prstGeom prst="rect">
            <a:avLst/>
          </a:prstGeom>
          <a:solidFill>
            <a:srgbClr val="1A1F2E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98A3B0"/>
                </a:solidFill>
                <a:latin typeface="Consolas"/>
              </a:rPr>
              <a:t>M→N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999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8A3B0"/>
                </a:solidFill>
                <a:latin typeface="Consolas"/>
              </a:rPr>
              <a:t>N predicts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0848" y="2926080"/>
            <a:ext cx="1170432" cy="365760"/>
          </a:xfrm>
          <a:prstGeom prst="rect">
            <a:avLst/>
          </a:prstGeom>
          <a:solidFill>
            <a:srgbClr val="1A1F2E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98A3B0"/>
                </a:solidFill>
                <a:latin typeface="Consolas"/>
              </a:rPr>
              <a:t>N→M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32720" y="2926080"/>
            <a:ext cx="1170432" cy="365760"/>
          </a:xfrm>
          <a:prstGeom prst="rect">
            <a:avLst/>
          </a:prstGeom>
          <a:solidFill>
            <a:srgbClr val="1F3324"/>
          </a:solidFill>
          <a:ln w="12700">
            <a:solidFill>
              <a:srgbClr val="4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4A9B4A"/>
                </a:solidFill>
                <a:latin typeface="Consolas"/>
              </a:rPr>
              <a:t>N→N  self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341985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8A3B0"/>
                </a:solidFill>
                <a:latin typeface="Consolas"/>
              </a:rPr>
              <a:t>F predicts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0848" y="3346704"/>
            <a:ext cx="1170432" cy="365760"/>
          </a:xfrm>
          <a:prstGeom prst="rect">
            <a:avLst/>
          </a:prstGeom>
          <a:solidFill>
            <a:srgbClr val="1A1F2E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98A3B0"/>
                </a:solidFill>
                <a:latin typeface="Consolas"/>
              </a:rPr>
              <a:t>F→M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20" y="3346704"/>
            <a:ext cx="1170432" cy="365760"/>
          </a:xfrm>
          <a:prstGeom prst="rect">
            <a:avLst/>
          </a:prstGeom>
          <a:solidFill>
            <a:srgbClr val="1A1F2E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98A3B0"/>
                </a:solidFill>
                <a:latin typeface="Consolas"/>
              </a:rPr>
              <a:t>F→N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10728" y="3822192"/>
            <a:ext cx="3392424" cy="384048"/>
          </a:xfrm>
          <a:prstGeom prst="rect">
            <a:avLst/>
          </a:prstGeom>
          <a:solidFill>
            <a:srgbClr val="161B22"/>
          </a:solidFill>
          <a:ln w="12700">
            <a:solidFill>
              <a:srgbClr val="F0C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8744" y="39136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1">
                <a:solidFill>
                  <a:srgbClr val="F0C040"/>
                </a:solidFill>
                <a:latin typeface="Consolas"/>
              </a:rPr>
              <a:t>D  </a:t>
            </a:r>
            <a:r>
              <a:rPr sz="1150" b="0">
                <a:solidFill>
                  <a:srgbClr val="E9EEF4"/>
                </a:solidFill>
                <a:latin typeface="Calibri"/>
              </a:rPr>
              <a:t>surface baseline — the cheap third party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4528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400" b="1">
                <a:solidFill>
                  <a:srgbClr val="4A9B4A"/>
                </a:solidFill>
                <a:latin typeface="Calibri"/>
              </a:rPr>
              <a:t>Capability cancels. </a:t>
            </a:r>
            <a:r>
              <a:rPr sz="1400" b="0">
                <a:solidFill>
                  <a:srgbClr val="98A3B0"/>
                </a:solidFill>
                <a:latin typeface="Calibri"/>
              </a:rPr>
              <a:t>An additive competence edge appears in both of M's cells, so it drops out of the interaction  </a:t>
            </a:r>
            <a:r>
              <a:rPr sz="1300" b="1">
                <a:solidFill>
                  <a:srgbClr val="E9EEF4"/>
                </a:solidFill>
                <a:latin typeface="Consolas"/>
              </a:rPr>
              <a:t>(M→M − N→M) − (M→N − N→N)</a:t>
            </a:r>
            <a:r>
              <a:rPr sz="1400" b="0">
                <a:solidFill>
                  <a:srgbClr val="98A3B0"/>
                </a:solidFill>
                <a:latin typeface="Calibri"/>
              </a:rPr>
              <a:t>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400" b="1">
                <a:solidFill>
                  <a:srgbClr val="F0C040"/>
                </a:solidFill>
                <a:latin typeface="Calibri"/>
              </a:rPr>
              <a:t>Leakage becomes the variable. </a:t>
            </a:r>
            <a:r>
              <a:rPr sz="1400" b="0">
                <a:solidFill>
                  <a:srgbClr val="98A3B0"/>
                </a:solidFill>
                <a:latin typeface="Calibri"/>
              </a:rPr>
              <a:t>Four stimulus constructions on one shared 200-prompt pool, spanning surface baselines 0.54–0.85, with D fit per target column and gated on </a:t>
            </a:r>
            <a:r>
              <a:rPr sz="1400" b="1">
                <a:solidFill>
                  <a:srgbClr val="E9EEF4"/>
                </a:solidFill>
                <a:latin typeface="Calibri"/>
              </a:rPr>
              <a:t>before</a:t>
            </a:r>
            <a:r>
              <a:rPr sz="1400" b="0">
                <a:solidFill>
                  <a:srgbClr val="98A3B0"/>
                </a:solidFill>
                <a:latin typeface="Calibri"/>
              </a:rPr>
              <a:t> main data is collected.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>
                <a:solidFill>
                  <a:srgbClr val="4A90D9"/>
                </a:solidFill>
                <a:latin typeface="Calibri"/>
              </a:rPr>
              <a:t>The criterion. </a:t>
            </a:r>
            <a:r>
              <a:rPr sz="1400" b="0">
                <a:solidFill>
                  <a:srgbClr val="98A3B0"/>
                </a:solidFill>
                <a:latin typeface="Calibri"/>
              </a:rPr>
              <a:t>Privileged access requires beating an equal-or-lower-cost observer reading the same text — not merely beating chance.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650992"/>
            <a:ext cx="10874959" cy="475488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576986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1">
                <a:solidFill>
                  <a:srgbClr val="E9EEF4"/>
                </a:solidFill>
                <a:latin typeface="Calibri"/>
              </a:rPr>
              <a:t>Ground truth is constructed, not elicited. </a:t>
            </a:r>
            <a:r>
              <a:rPr sz="1250" b="0">
                <a:solidFill>
                  <a:srgbClr val="98A3B0"/>
                </a:solidFill>
                <a:latin typeface="Calibri"/>
              </a:rPr>
              <a:t>The label lives where the prediction code structurally cannot import it — no predictor, including Self, ever sees it.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291072"/>
            <a:ext cx="10874959" cy="9525"/>
          </a:xfrm>
          <a:prstGeom prst="rect">
            <a:avLst/>
          </a:prstGeom>
          <a:solidFill>
            <a:srgbClr val="2A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>
                <a:solidFill>
                  <a:srgbClr val="F0C040"/>
                </a:solidFill>
                <a:latin typeface="Consolas"/>
              </a:rPr>
              <a:t>2</a:t>
            </a:r>
            <a:r>
              <a:rPr sz="1050" b="0">
                <a:solidFill>
                  <a:srgbClr val="6B7683"/>
                </a:solidFill>
                <a:latin typeface="Consolas"/>
              </a:rPr>
              <a:t>  /  6     Question and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spc="160">
                <a:solidFill>
                  <a:srgbClr val="F0C040"/>
                </a:solidFill>
                <a:latin typeface="Consolas"/>
              </a:rPr>
              <a:t>FINDING 1  ·  THE PILOT, FIVE PERSONA PAIRS, TEN GENERATOR COLUMNS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87495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800"/>
              </a:spcAft>
            </a:pPr>
            <a:r>
              <a:rPr sz="3400" b="1">
                <a:solidFill>
                  <a:srgbClr val="E9EEF4"/>
                </a:solidFill>
                <a:latin typeface="Calibri"/>
              </a:rPr>
              <a:t>Persona prediction tracks a cheap surface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4683" y="1563624"/>
            <a:ext cx="4851513" cy="423367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self_vs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699" y="1691640"/>
            <a:ext cx="4595481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700784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F0C040"/>
                </a:solidFill>
                <a:latin typeface="Consolas"/>
              </a:rPr>
              <a:t>r = +0.71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3B0"/>
                </a:solidFill>
                <a:latin typeface="Calibri"/>
              </a:rPr>
              <a:t>correlation between self-prediction accuracy and the 18-feature surface baseline, across ten columns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2779776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F0C040"/>
                </a:solidFill>
                <a:latin typeface="Consolas"/>
              </a:rPr>
              <a:t>6 / 10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3B0"/>
                </a:solidFill>
                <a:latin typeface="Calibri"/>
              </a:rPr>
              <a:t>columns where the surface baseline matches or beats the model at reading its own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8587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4A90D9"/>
                </a:solidFill>
                <a:latin typeface="Consolas"/>
              </a:rPr>
              <a:t>0.325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3B0"/>
                </a:solidFill>
                <a:latin typeface="Calibri"/>
              </a:rPr>
              <a:t>surface baseline on VO-D's M column once style is equalised — and the model falls to 0.500 with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4974336"/>
            <a:ext cx="4617720" cy="1188720"/>
          </a:xfrm>
          <a:prstGeom prst="rect">
            <a:avLst/>
          </a:prstGeom>
          <a:solidFill>
            <a:srgbClr val="161B22"/>
          </a:solidFill>
          <a:ln w="12700">
            <a:solidFill>
              <a:srgbClr val="E2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68312" y="5102352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E24A4A"/>
                </a:solidFill>
                <a:latin typeface="Calibri"/>
              </a:rPr>
              <a:t>Caveat.  </a:t>
            </a:r>
            <a:r>
              <a:rPr sz="1250" b="0">
                <a:solidFill>
                  <a:srgbClr val="E9EEF4"/>
                </a:solidFill>
                <a:latin typeface="Calibri"/>
              </a:rPr>
              <a:t>VO-D also changed the behavioural expression of the hidden property, so it is not a clean causal isolation of style: the two personas largely converged on the same recommendation.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7044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7683"/>
                </a:solidFill>
                <a:latin typeface="Calibri"/>
              </a:rPr>
              <a:t>Points at or below the diagonal: a stylometric baseline matches or beats the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10874959" cy="9525"/>
          </a:xfrm>
          <a:prstGeom prst="rect">
            <a:avLst/>
          </a:prstGeom>
          <a:solidFill>
            <a:srgbClr val="2A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>
                <a:solidFill>
                  <a:srgbClr val="F0C040"/>
                </a:solidFill>
                <a:latin typeface="Consolas"/>
              </a:rPr>
              <a:t>3</a:t>
            </a:r>
            <a:r>
              <a:rPr sz="1050" b="0">
                <a:solidFill>
                  <a:srgbClr val="6B7683"/>
                </a:solidFill>
                <a:latin typeface="Consolas"/>
              </a:rPr>
              <a:t>  /  6     Surface leakage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spc="160">
                <a:solidFill>
                  <a:srgbClr val="F0C040"/>
                </a:solidFill>
                <a:latin typeface="Consolas"/>
              </a:rPr>
              <a:t>FINDING 2  ·  24 CELLS  ·  9,269 SCORED TRIALS  ·  ZERO MALFORMED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87495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800"/>
              </a:spcAft>
            </a:pPr>
            <a:r>
              <a:rPr sz="3000" b="1">
                <a:solidFill>
                  <a:srgbClr val="E9EEF4"/>
                </a:solidFill>
                <a:latin typeface="Calibri"/>
              </a:rPr>
              <a:t>No self-advantage on the target column — and one positive interaction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27632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417320"/>
                <a:gridCol w="2331720"/>
                <a:gridCol w="2331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6B7683"/>
                          </a:solidFill>
                          <a:latin typeface="Calibri"/>
                        </a:rPr>
                        <a:t>Stimulus set</a:t>
                      </a:r>
                    </a:p>
                  </a:txBody>
                  <a:tcPr marL="91440" marR="91440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6B7683"/>
                          </a:solidFill>
                          <a:latin typeface="Calibri"/>
                        </a:rPr>
                        <a:t>Surface D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6B7683"/>
                          </a:solidFill>
                          <a:latin typeface="Calibri"/>
                        </a:rPr>
                        <a:t>(M / N col)</a:t>
                      </a:r>
                    </a:p>
                  </a:txBody>
                  <a:tcPr marL="91440" marR="91440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6B7683"/>
                          </a:solidFill>
                          <a:latin typeface="Calibri"/>
                        </a:rPr>
                        <a:t>Self-advantage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6B7683"/>
                          </a:solidFill>
                          <a:latin typeface="Calibri"/>
                        </a:rPr>
                        <a:t>M→M − N→M</a:t>
                      </a:r>
                    </a:p>
                  </a:txBody>
                  <a:tcPr marL="91440" marR="91440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6B7683"/>
                          </a:solidFill>
                          <a:latin typeface="Calibri"/>
                        </a:rPr>
                        <a:t>Capability-controlled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6B7683"/>
                          </a:solidFill>
                          <a:latin typeface="Calibri"/>
                        </a:rPr>
                        <a:t>interaction</a:t>
                      </a:r>
                    </a:p>
                  </a:txBody>
                  <a:tcPr marL="91440" marR="91440" anchor="ctr"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alibri"/>
                        </a:rPr>
                        <a:t>VO-D  style-equalised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0.55 / 0.54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+0.000 [−0.015, +0.015]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−0.006 [−0.033, +0.021]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alibri"/>
                        </a:rPr>
                        <a:t>VO-B  original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0.65 / 0.75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+0.000 [−0.033, +0.035]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+0.005 [−0.040, +0.050]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alibri"/>
                        </a:rPr>
                        <a:t>VO-A  original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0.66 / 0.75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+0.020 [−0.015, +0.056]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9EEF4"/>
                          </a:solidFill>
                          <a:latin typeface="Consolas"/>
                        </a:rPr>
                        <a:t>−0.030 [−0.079, +0.018]</a:t>
                      </a:r>
                    </a:p>
                  </a:txBody>
                  <a:tcPr marL="91440" marR="91440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0C040"/>
                          </a:solidFill>
                          <a:latin typeface="Calibri"/>
                        </a:rPr>
                        <a:t>VO-C  leakiest</a:t>
                      </a:r>
                    </a:p>
                  </a:txBody>
                  <a:tcPr marL="91440" marR="91440" anchor="ctr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0C040"/>
                          </a:solidFill>
                          <a:latin typeface="Consolas"/>
                        </a:rPr>
                        <a:t>0.69 / 0.85</a:t>
                      </a:r>
                    </a:p>
                  </a:txBody>
                  <a:tcPr marL="91440" marR="91440" anchor="ctr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0C040"/>
                          </a:solidFill>
                          <a:latin typeface="Consolas"/>
                        </a:rPr>
                        <a:t>−0.033 [−0.058, −0.008]</a:t>
                      </a:r>
                    </a:p>
                  </a:txBody>
                  <a:tcPr marL="91440" marR="91440" anchor="ctr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0C040"/>
                          </a:solidFill>
                          <a:latin typeface="Consolas"/>
                        </a:rPr>
                        <a:t>+0.089 [+0.048, +0.131]</a:t>
                      </a:r>
                    </a:p>
                  </a:txBody>
                  <a:tcPr marL="91440" marR="91440" anchor="ctr">
                    <a:solidFill>
                      <a:srgbClr val="1A1F2E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89720" y="1627632"/>
            <a:ext cx="2331720" cy="2286000"/>
          </a:xfrm>
          <a:prstGeom prst="rect">
            <a:avLst/>
          </a:prstGeom>
          <a:solidFill>
            <a:srgbClr val="161B22"/>
          </a:solidFill>
          <a:ln w="12700">
            <a:solidFill>
              <a:srgbClr val="F0C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0C040"/>
                </a:solidFill>
                <a:latin typeface="Consolas"/>
              </a:rPr>
              <a:t>+0.089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8A3B0"/>
                </a:solidFill>
                <a:latin typeface="Consolas"/>
              </a:rPr>
              <a:t>[+0.048, +0.131]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0">
                <a:solidFill>
                  <a:srgbClr val="E9EEF4"/>
                </a:solidFill>
                <a:latin typeface="Calibri"/>
              </a:rPr>
              <a:t>The originally preregistered interaction — positive, on the leakiest set in the study. We report it rather than bury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33087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500" b="1">
                <a:solidFill>
                  <a:srgbClr val="E9EEF4"/>
                </a:solidFill>
                <a:latin typeface="Calibri"/>
              </a:rPr>
              <a:t>Not one construction shows a positive M-target self-advantage whose interval excludes zero. </a:t>
            </a:r>
            <a:r>
              <a:rPr sz="1500" b="0">
                <a:solidFill>
                  <a:srgbClr val="98A3B0"/>
                </a:solidFill>
                <a:latin typeface="Calibri"/>
              </a:rPr>
              <a:t>The single significant value on that contrast is </a:t>
            </a:r>
            <a:r>
              <a:rPr sz="1500" b="1">
                <a:solidFill>
                  <a:srgbClr val="E24A4A"/>
                </a:solidFill>
                <a:latin typeface="Calibri"/>
              </a:rPr>
              <a:t>negative</a:t>
            </a:r>
            <a:r>
              <a:rPr sz="1500" b="0">
                <a:solidFill>
                  <a:srgbClr val="98A3B0"/>
                </a:solidFill>
                <a:latin typeface="Calibri"/>
              </a:rPr>
              <a:t> — and on VO-C's M column the self model is the worst of the three predictors of its own output (M→M 0.603, below N→M 0.636 and F→M 0.628).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>
                <a:solidFill>
                  <a:srgbClr val="F0C040"/>
                </a:solidFill>
                <a:latin typeface="Calibri"/>
              </a:rPr>
              <a:t>Positive interaction, but predictor-by-column differences prevent it from uniquely identifying privileged access. </a:t>
            </a:r>
            <a:r>
              <a:rPr sz="1400" b="0">
                <a:solidFill>
                  <a:srgbClr val="98A3B0"/>
                </a:solidFill>
                <a:latin typeface="Calibri"/>
              </a:rPr>
              <a:t>It is positive because M </a:t>
            </a:r>
            <a:r>
              <a:rPr sz="1400" b="1">
                <a:solidFill>
                  <a:srgbClr val="E9EEF4"/>
                </a:solidFill>
                <a:latin typeface="Calibri"/>
              </a:rPr>
              <a:t>under</a:t>
            </a:r>
            <a:r>
              <a:rPr sz="1400" b="0">
                <a:solidFill>
                  <a:srgbClr val="98A3B0"/>
                </a:solidFill>
                <a:latin typeface="Calibri"/>
              </a:rPr>
              <a:t>-performs on N's column, not because it over-performs on its own — and the estimator cancels only the additive part.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5623560"/>
            <a:ext cx="10874959" cy="566928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1">
                <a:solidFill>
                  <a:srgbClr val="E9EEF4"/>
                </a:solidFill>
                <a:latin typeface="Calibri"/>
              </a:rPr>
              <a:t>Four stimulus constructions  ·  shared 200-prompt pool</a:t>
            </a:r>
            <a:r>
              <a:rPr sz="1100" b="0">
                <a:solidFill>
                  <a:srgbClr val="6B7683"/>
                </a:solidFill>
                <a:latin typeface="Calibri"/>
              </a:rPr>
              <a:t>          Preregistered floor 500/cell; achieved ~400; VO-D N = 323. Prompt-clustered bootstrap throughout.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10874959" cy="9525"/>
          </a:xfrm>
          <a:prstGeom prst="rect">
            <a:avLst/>
          </a:prstGeom>
          <a:solidFill>
            <a:srgbClr val="2A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>
                <a:solidFill>
                  <a:srgbClr val="F0C040"/>
                </a:solidFill>
                <a:latin typeface="Consolas"/>
              </a:rPr>
              <a:t>4</a:t>
            </a:r>
            <a:r>
              <a:rPr sz="1050" b="0">
                <a:solidFill>
                  <a:srgbClr val="6B7683"/>
                </a:solidFill>
                <a:latin typeface="Consolas"/>
              </a:rPr>
              <a:t>  /  6     Crossed 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spc="160">
                <a:solidFill>
                  <a:srgbClr val="F0C040"/>
                </a:solidFill>
                <a:latin typeface="Consolas"/>
              </a:rPr>
              <a:t>FINDING 3  ·  “WHICH OF THESE TWO REPLIES WOULD YOU PRODUCE?”  ·  391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87495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800"/>
              </a:spcAft>
            </a:pPr>
            <a:r>
              <a:rPr sz="3000" b="1">
                <a:solidFill>
                  <a:srgbClr val="E9EEF4"/>
                </a:solidFill>
                <a:latin typeface="Calibri"/>
              </a:rPr>
              <a:t>Hermes-3 can predict itself. A cheaper observer still does better.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3456432" cy="2084831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719072"/>
            <a:ext cx="309067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E9EEF4"/>
                </a:solidFill>
                <a:latin typeface="Calibri"/>
              </a:rPr>
              <a:t>Hermes-3 self-prediction</a:t>
            </a:r>
          </a:p>
          <a:p>
            <a:pPr algn="l">
              <a:spcAft>
                <a:spcPts val="300"/>
              </a:spcAft>
            </a:pPr>
            <a:r>
              <a:rPr sz="4000" b="1">
                <a:solidFill>
                  <a:srgbClr val="4A9B4A"/>
                </a:solidFill>
                <a:latin typeface="Consolas"/>
              </a:rPr>
              <a:t>0.719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balanced accuracy [0.675, 0.762]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discrimination +0.437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145536"/>
            <a:ext cx="3090672" cy="137160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3145536"/>
            <a:ext cx="1692142" cy="137160"/>
          </a:xfrm>
          <a:prstGeom prst="rect">
            <a:avLst/>
          </a:prstGeom>
          <a:solidFill>
            <a:srgbClr val="4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31927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7683"/>
                </a:solidFill>
                <a:latin typeface="Consolas"/>
              </a:rPr>
              <a:t>0.50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31927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7683"/>
                </a:solidFill>
                <a:latin typeface="Consolas"/>
              </a:rPr>
              <a:t>0.90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72768"/>
            <a:ext cx="3456432" cy="2084831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719072"/>
            <a:ext cx="309067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E9EEF4"/>
                </a:solidFill>
                <a:latin typeface="Calibri"/>
              </a:rPr>
              <a:t>Length-only observer</a:t>
            </a:r>
          </a:p>
          <a:p>
            <a:pPr algn="l">
              <a:spcAft>
                <a:spcPts val="300"/>
              </a:spcAft>
            </a:pPr>
            <a:r>
              <a:rPr sz="4000" b="1">
                <a:solidFill>
                  <a:srgbClr val="4A90D9"/>
                </a:solidFill>
                <a:latin typeface="Consolas"/>
              </a:rPr>
              <a:t>0.808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“pick the longer reply”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one feature, no training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3145536"/>
            <a:ext cx="3090672" cy="137160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8848" y="3145536"/>
            <a:ext cx="2379817" cy="1371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331927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7683"/>
                </a:solidFill>
                <a:latin typeface="Consolas"/>
              </a:rPr>
              <a:t>0.50 chance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31927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7683"/>
                </a:solidFill>
                <a:latin typeface="Consolas"/>
              </a:rPr>
              <a:t>0.90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8" y="1572768"/>
            <a:ext cx="3456432" cy="2084831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719072"/>
            <a:ext cx="309067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E9EEF4"/>
                </a:solidFill>
                <a:latin typeface="Calibri"/>
              </a:rPr>
              <a:t>18-feature surface classifier</a:t>
            </a:r>
          </a:p>
          <a:p>
            <a:pPr algn="l">
              <a:spcAft>
                <a:spcPts val="300"/>
              </a:spcAft>
            </a:pPr>
            <a:r>
              <a:rPr sz="4000" b="1">
                <a:solidFill>
                  <a:srgbClr val="F0C040"/>
                </a:solidFill>
                <a:latin typeface="Consolas"/>
              </a:rPr>
              <a:t>0.831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supervised single-text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authorship labelling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56448" y="3145536"/>
            <a:ext cx="3090672" cy="137160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6448" y="3145536"/>
            <a:ext cx="2557531" cy="137160"/>
          </a:xfrm>
          <a:prstGeom prst="rect">
            <a:avLst/>
          </a:prstGeom>
          <a:solidFill>
            <a:srgbClr val="F0C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331927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7683"/>
                </a:solidFill>
                <a:latin typeface="Consolas"/>
              </a:rPr>
              <a:t>0.50 chance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331927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7683"/>
                </a:solidFill>
                <a:latin typeface="Consolas"/>
              </a:rPr>
              <a:t>0.90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712463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>
                <a:solidFill>
                  <a:srgbClr val="98A3B0"/>
                </a:solidFill>
                <a:latin typeface="Calibri"/>
              </a:rPr>
              <a:t>Only the length rule is matched to the model's task item-for-item </a:t>
            </a:r>
            <a:r>
              <a:rPr sz="1250" b="0">
                <a:solidFill>
                  <a:srgbClr val="E9EEF4"/>
                </a:solidFill>
                <a:latin typeface="Consolas"/>
              </a:rPr>
              <a:t>(paired difference +0.095 [+0.036, +0.155], McNemar p = 0.0018)</a:t>
            </a:r>
            <a:r>
              <a:rPr sz="1250" b="0">
                <a:solidFill>
                  <a:srgbClr val="98A3B0"/>
                </a:solidFill>
                <a:latin typeface="Calibri"/>
              </a:rPr>
              <a:t>.  The classifier is a different evaluation procedure — a cost criterion, not a matched score.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06240"/>
            <a:ext cx="7040880" cy="1207008"/>
          </a:xfrm>
          <a:prstGeom prst="rect">
            <a:avLst/>
          </a:prstGeom>
          <a:solidFill>
            <a:srgbClr val="1F3324"/>
          </a:solidFill>
          <a:ln w="12700">
            <a:solidFill>
              <a:srgbClr val="4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325112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9EEF4"/>
                </a:solidFill>
                <a:latin typeface="Calibri"/>
              </a:rPr>
              <a:t>Hermes still discriminates where the length cue points away from its own reply:</a:t>
            </a:r>
          </a:p>
          <a:p>
            <a:pPr algn="l">
              <a:spcAft>
                <a:spcPts val="300"/>
              </a:spcAft>
            </a:pPr>
            <a:r>
              <a:rPr sz="1700" b="1">
                <a:solidFill>
                  <a:srgbClr val="4A9B4A"/>
                </a:solidFill>
                <a:latin typeface="Consolas"/>
              </a:rPr>
              <a:t>+0.381 [0.188, 0.566]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75 pairs where a pure length strategy is actively wrong. This study cannot name the residual.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4206240"/>
            <a:ext cx="3657600" cy="1207008"/>
          </a:xfrm>
          <a:prstGeom prst="rect">
            <a:avLst/>
          </a:prstGeom>
          <a:solidFill>
            <a:srgbClr val="1A1F2E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325112"/>
            <a:ext cx="332841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9EEF4"/>
                </a:solidFill>
                <a:latin typeface="Calibri"/>
              </a:rPr>
              <a:t>Llama-3.1: no self-prediction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98A3B0"/>
                </a:solidFill>
                <a:latin typeface="Calibri"/>
              </a:rPr>
              <a:t>Discrimination −0.107 [−0.166, −0.048]; 89.7% “A”. One model's ability, not a property of language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541264"/>
            <a:ext cx="10874959" cy="438912"/>
          </a:xfrm>
          <a:prstGeom prst="rect">
            <a:avLst/>
          </a:prstGeom>
          <a:solidFill>
            <a:srgbClr val="0D1117"/>
          </a:solidFill>
          <a:ln w="12700">
            <a:solidFill>
              <a:srgbClr val="F0C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41848"/>
            <a:ext cx="104726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50" b="1">
                <a:solidFill>
                  <a:srgbClr val="F0C040"/>
                </a:solidFill>
                <a:latin typeface="Calibri"/>
              </a:rPr>
              <a:t>Self-prediction is possible. </a:t>
            </a:r>
            <a:r>
              <a:rPr sz="1550" b="1">
                <a:solidFill>
                  <a:srgbClr val="E9EEF4"/>
                </a:solidFill>
                <a:latin typeface="Calibri"/>
              </a:rPr>
              <a:t>Privileged self-access is not thereby demonstrated.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0">
                <a:solidFill>
                  <a:srgbClr val="6B7683"/>
                </a:solidFill>
                <a:latin typeface="Consolas"/>
              </a:rPr>
              <a:t>post hoc analyses  ·  0.719 and 0.831 are different evaluation procedures, and no statistical test is run between them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291072"/>
            <a:ext cx="10874959" cy="9525"/>
          </a:xfrm>
          <a:prstGeom prst="rect">
            <a:avLst/>
          </a:prstGeom>
          <a:solidFill>
            <a:srgbClr val="2A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>
                <a:solidFill>
                  <a:srgbClr val="F0C040"/>
                </a:solidFill>
                <a:latin typeface="Consolas"/>
              </a:rPr>
              <a:t>5</a:t>
            </a:r>
            <a:r>
              <a:rPr sz="1050" b="0">
                <a:solidFill>
                  <a:srgbClr val="6B7683"/>
                </a:solidFill>
                <a:latin typeface="Consolas"/>
              </a:rPr>
              <a:t>  /  6     Self-prediction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spc="160">
                <a:solidFill>
                  <a:srgbClr val="F0C040"/>
                </a:solidFill>
                <a:latin typeface="Consolas"/>
              </a:rPr>
              <a:t>WHERE THIS GOES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87495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800"/>
              </a:spcAft>
            </a:pPr>
            <a:r>
              <a:rPr sz="3400" b="1">
                <a:solidFill>
                  <a:srgbClr val="E9EEF4"/>
                </a:solidFill>
                <a:latin typeface="Calibri"/>
              </a:rPr>
              <a:t>A decision tree, not a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36192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50" b="0">
                <a:solidFill>
                  <a:srgbClr val="98A3B0"/>
                </a:solidFill>
                <a:latin typeface="Calibri"/>
              </a:rPr>
              <a:t>One question is left open by our own data: </a:t>
            </a:r>
            <a:r>
              <a:rPr sz="1550" b="1">
                <a:solidFill>
                  <a:srgbClr val="E9EEF4"/>
                </a:solidFill>
                <a:latin typeface="Calibri"/>
              </a:rPr>
              <a:t>what is the model-specific residual that survives control of cheap surface cues, and can a behavioural test be built in which a positive privileged-access result would be identifiable?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12848"/>
            <a:ext cx="3529584" cy="2788920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212848"/>
            <a:ext cx="3529584" cy="54864"/>
          </a:xfrm>
          <a:prstGeom prst="rect">
            <a:avLst/>
          </a:prstGeom>
          <a:solidFill>
            <a:srgbClr val="4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43230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000" b="1">
                <a:solidFill>
                  <a:srgbClr val="4A9B4A"/>
                </a:solidFill>
                <a:latin typeface="Consolas"/>
              </a:rPr>
              <a:t>1   </a:t>
            </a:r>
            <a:r>
              <a:rPr sz="1250" b="1">
                <a:solidFill>
                  <a:srgbClr val="4A9B4A"/>
                </a:solidFill>
                <a:latin typeface="Consolas"/>
              </a:rPr>
              <a:t>DISSOCIATE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871216"/>
            <a:ext cx="31638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9EEF4"/>
                </a:solidFill>
                <a:latin typeface="Calibri"/>
              </a:rPr>
              <a:t>Self-preference vs self-prediction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01568"/>
            <a:ext cx="31638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Re-run the probe on the same pairs under two questions — “which would you produce?” against “which is better?”. A residual as large under the quality question reads as self-preference; one specific to the prediction framing is the discriminating outcome. Needs a behavioural manipulation check run before collection.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42900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>
                <a:solidFill>
                  <a:srgbClr val="6B7683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212848"/>
            <a:ext cx="3529584" cy="2788920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212848"/>
            <a:ext cx="3529584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43230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000" b="1">
                <a:solidFill>
                  <a:srgbClr val="4A90D9"/>
                </a:solidFill>
                <a:latin typeface="Consolas"/>
              </a:rPr>
              <a:t>2   </a:t>
            </a:r>
            <a:r>
              <a:rPr sz="1250" b="1">
                <a:solidFill>
                  <a:srgbClr val="4A90D9"/>
                </a:solidFill>
                <a:latin typeface="Consolas"/>
              </a:rPr>
              <a:t>AUDIT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71216"/>
            <a:ext cx="31638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9EEF4"/>
                </a:solidFill>
                <a:latin typeface="Calibri"/>
              </a:rPr>
              <a:t>Apply the controls to existing claims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01568"/>
            <a:ext cx="31638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Take the leakage gate and the response-bias check to published behavioural introspection results, and ask how many survive controls this cheap. No new model runs; it tests whether the framework generalises beyond our stimuli.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342900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>
                <a:solidFill>
                  <a:srgbClr val="6B7683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2212848"/>
            <a:ext cx="3529584" cy="2788920"/>
          </a:xfrm>
          <a:prstGeom prst="rect">
            <a:avLst/>
          </a:prstGeom>
          <a:solidFill>
            <a:srgbClr val="161B22"/>
          </a:solidFill>
          <a:ln w="12700">
            <a:solidFill>
              <a:srgbClr val="2A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2212848"/>
            <a:ext cx="3529584" cy="54864"/>
          </a:xfrm>
          <a:prstGeom prst="rect">
            <a:avLst/>
          </a:prstGeom>
          <a:solidFill>
            <a:srgbClr val="F0C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43230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000" b="1">
                <a:solidFill>
                  <a:srgbClr val="F0C040"/>
                </a:solidFill>
                <a:latin typeface="Consolas"/>
              </a:rPr>
              <a:t>3   </a:t>
            </a:r>
            <a:r>
              <a:rPr sz="1250" b="1">
                <a:solidFill>
                  <a:srgbClr val="F0C040"/>
                </a:solidFill>
                <a:latin typeface="Consolas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871216"/>
            <a:ext cx="31638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9EEF4"/>
                </a:solidFill>
                <a:latin typeface="Calibri"/>
              </a:rPr>
              <a:t>Stronger causal ground truth — conditional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401568"/>
            <a:ext cx="31638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98A3B0"/>
                </a:solidFill>
                <a:latin typeface="Calibri"/>
              </a:rPr>
              <a:t>Only if a residual survives Stage 1 and audited effects do not dissolve: a training-relationship ladder against our one-lineage limit, activation steering or an independently planted property so ground truth is verified rather than assumed, and an incremental-validity test against an observer's features.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193792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1250" b="0">
                <a:solidFill>
                  <a:srgbClr val="6B7683"/>
                </a:solidFill>
                <a:latin typeface="Calibri"/>
              </a:rPr>
              <a:t>If Stage 1 dissolves the residual, that is the result and Stage 3 does not run. The bottleneck is breadth and experimental design, not implementation.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596128"/>
            <a:ext cx="10874959" cy="530352"/>
          </a:xfrm>
          <a:prstGeom prst="rect">
            <a:avLst/>
          </a:prstGeom>
          <a:solidFill>
            <a:srgbClr val="1A1F2E"/>
          </a:solidFill>
          <a:ln w="12700">
            <a:solidFill>
              <a:srgbClr val="F0C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5724144"/>
            <a:ext cx="1043604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0C040"/>
                </a:solidFill>
                <a:latin typeface="Calibri"/>
              </a:rPr>
              <a:t>Can behavioural self-prediction ever provide evidence unavailable to an external observer?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10874959" cy="9525"/>
          </a:xfrm>
          <a:prstGeom prst="rect">
            <a:avLst/>
          </a:prstGeom>
          <a:solidFill>
            <a:srgbClr val="2A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>
                <a:solidFill>
                  <a:srgbClr val="F0C040"/>
                </a:solidFill>
                <a:latin typeface="Consolas"/>
              </a:rPr>
              <a:t>6</a:t>
            </a:r>
            <a:r>
              <a:rPr sz="1050" b="0">
                <a:solidFill>
                  <a:srgbClr val="6B7683"/>
                </a:solidFill>
                <a:latin typeface="Consolas"/>
              </a:rPr>
              <a:t>  /  6     Future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
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DIGITAL MINDS SPRINT  ·  TRACK 3  ·  INTROSPECTION &amp; SELF-REPORT RELIABILITY</a:t>
            </a:r>
          </a:p>
        </p:txBody>
      </p:sp>
      <p:sp>
        <p:nvSpPr>
          <p:cNvPr id="3" name="TextBox 2"/>
          <p:cNvSpPr txBox="1"/>
          <p:nvPr/>
        </p:nvSpPr>
        <p:spPr>
          <a:xfrm>
            <a:off x="822960" y="1371600"/>
            <a:ext cx="10545775" cy="1371600"/>
          </a:xfrm>
          <a:prstGeom prst="rect">
            <a:avLst/>
          </a:prstGeom>
          <a:noFill/>
        </p:spPr>
        <p:txBody>
          <a:bodyPr wrap="square">
            <a:spAutoFit/>
          </a:bodyPr>
          <a:lstStyle/>
          <a:p>
            <a:pPr algn="l">
              <a:lnSpc>
                <a:spcPct val="105000"/>
              </a:lnSpc>
              <a:spcAft>
                <a:spcPts val="800"/>
              </a:spcAft>
            </a:pPr>
            <a:r>
              <a:rPr sz="5400" b="1">
                <a:solidFill>
                  <a:srgbClr val="12171F"/>
                </a:solidFill>
                <a:latin typeface="Georgia"/>
              </a:rPr>
              <a:t>Beaten by eighteen features</a:t>
            </a:r>
          </a:p>
        </p:txBody>
      </p:sp>
      <p:sp>
        <p:nvSpPr>
          <p:cNvPr id="4" name="TextBox 3"/>
          <p:cNvSpPr txBox="1"/>
          <p:nvPr/>
        </p:nvSpPr>
        <p:spPr>
          <a:xfrm>
            <a:off x="822960" y="3017520"/>
            <a:ext cx="8595360" cy="1463040"/>
          </a:xfrm>
          <a:prstGeom prst="rect">
            <a:avLst/>
          </a:prstGeom>
          <a:noFill/>
        </p:spPr>
        <p:txBody>
          <a:bodyPr wrap="square">
            <a:spAutoFit/>
          </a:bodyPr>
          <a:lstStyle/>
          <a:p>
            <a:pPr algn="l">
              <a:lnSpc>
                <a:spcPct val="130000"/>
              </a:lnSpc>
              <a:spcAft>
                <a:spcPts val="800"/>
              </a:spcAft>
            </a:pPr>
            <a:r>
              <a:rPr sz="2100" b="0">
                <a:solidFill>
                  <a:srgbClr val="59636F"/>
                </a:solidFill>
                <a:latin typeface="Segoe UI"/>
              </a:rPr>
              <a:t>Two 70-billion-parameter models were asked to pick out their own writing. A logistic regression on eighteen surface features did it better.</a:t>
            </a:r>
          </a:p>
        </p:txBody>
      </p:sp>
      <p:sp>
        <p:nvSpPr>
          <p:cNvPr id="5" name="TextBox 4"/>
          <p:cNvSpPr txBox="1"/>
          <p:nvPr/>
        </p:nvSpPr>
        <p:spPr>
          <a:xfrm>
            <a:off x="822960" y="5120640"/>
            <a:ext cx="10545775" cy="822960"/>
          </a:xfrm>
          <a:prstGeom prst="rect">
            <a:avLst/>
          </a:prstGeom>
          <a:noFill/>
        </p:spPr>
        <p:txBody>
          <a:bodyPr wrap="square">
            <a:spAutoFit/>
          </a:bodyPr>
          <a:lstStyle/>
          <a:p>
            <a:pPr algn="l">
              <a:spcAft>
                <a:spcPts val="200"/>
              </a:spcAft>
            </a:pPr>
            <a:r>
              <a:rPr sz="1500" b="0">
                <a:solidFill>
                  <a:srgbClr val="12171F"/>
                </a:solidFill>
                <a:latin typeface="Segoe UI"/>
              </a:rPr>
              <a:t>Ubayd Hattas &amp; Jaswin Chinthala</a:t>
            </a:r>
          </a:p>
          <a:p>
            <a:pPr algn="l">
              <a:spcAft>
                <a:spcPts val="800"/>
              </a:spcAft>
            </a:pPr>
            <a:r>
              <a:rPr sz="1300" b="0">
                <a:solidFill>
                  <a:srgbClr val="59636F"/>
                </a:solidFill>
                <a:latin typeface="Segoe UI"/>
              </a:rPr>
              <a:t>with Apart Research · August 2026</a:t>
            </a:r>
          </a:p>
        </p:txBody>
      </p:sp>
      <p:sp>
        <p:nvSpPr>
          <p:cNvPr id="6" name="TextBox 5"/>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01</a:t>
            </a:r>
          </a:p>
        </p:txBody>
      </p:sp>
      <p:sp>
        <p:nvSpPr>
          <p:cNvPr id="7" name="Rectangle 6"/>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WHY IT MATTERS</a:t>
            </a:r>
          </a:p>
        </p:txBody>
      </p:sp>
      <p:sp>
        <p:nvSpPr>
          <p:cNvPr id="3" name="TextBox 2"/>
          <p:cNvSpPr txBox="1"/>
          <p:nvPr/>
        </p:nvSpPr>
        <p:spPr>
          <a:xfrm>
            <a:off x="822960" y="960120"/>
            <a:ext cx="10545775" cy="1371600"/>
          </a:xfrm>
          <a:prstGeom prst="rect">
            <a:avLst/>
          </a:prstGeom>
          <a:noFill/>
        </p:spPr>
        <p:txBody>
          <a:bodyPr wrap="square">
            <a:spAutoFit/>
          </a:bodyPr>
          <a:lstStyle/>
          <a:p>
            <a:pPr algn="l">
              <a:lnSpc>
                <a:spcPct val="105000"/>
              </a:lnSpc>
              <a:spcAft>
                <a:spcPts val="800"/>
              </a:spcAft>
            </a:pPr>
            <a:r>
              <a:rPr sz="4000" b="1">
                <a:solidFill>
                  <a:srgbClr val="12171F"/>
                </a:solidFill>
                <a:latin typeface="Georgia"/>
              </a:rPr>
              <a:t>Model welfare research runs on self-report</a:t>
            </a:r>
          </a:p>
        </p:txBody>
      </p:sp>
      <p:sp>
        <p:nvSpPr>
          <p:cNvPr id="4" name="TextBox 3"/>
          <p:cNvSpPr txBox="1"/>
          <p:nvPr/>
        </p:nvSpPr>
        <p:spPr>
          <a:xfrm>
            <a:off x="822960" y="2286000"/>
            <a:ext cx="8778240" cy="3566160"/>
          </a:xfrm>
          <a:prstGeom prst="rect">
            <a:avLst/>
          </a:prstGeom>
          <a:noFill/>
        </p:spPr>
        <p:txBody>
          <a:bodyPr wrap="square">
            <a:spAutoFit/>
          </a:bodyPr>
          <a:lstStyle/>
          <a:p>
            <a:pPr algn="l">
              <a:lnSpc>
                <a:spcPct val="130000"/>
              </a:lnSpc>
              <a:spcAft>
                <a:spcPts val="1200"/>
              </a:spcAft>
            </a:pPr>
            <a:r>
              <a:rPr sz="1600" b="0">
                <a:solidFill>
                  <a:srgbClr val="12171F"/>
                </a:solidFill>
                <a:latin typeface="Segoe UI"/>
              </a:rPr>
              <a:t>When we ask whether a model has preferences, is distressed, or is flourishing, we mostly ask the model. That only works if its report about itself carries information an outside observer could not get from the same text.</a:t>
            </a:r>
          </a:p>
          <a:p>
            <a:pPr algn="l">
              <a:lnSpc>
                <a:spcPct val="130000"/>
              </a:lnSpc>
              <a:spcAft>
                <a:spcPts val="1200"/>
              </a:spcAft>
            </a:pPr>
            <a:r>
              <a:rPr sz="1600" b="0">
                <a:solidFill>
                  <a:srgbClr val="12171F"/>
                </a:solidFill>
                <a:latin typeface="Segoe UI"/>
              </a:rPr>
              <a:t>Binder et al. say models have that privileged access. Song et al. say the apparent effect is just behavioural similarity.</a:t>
            </a:r>
          </a:p>
          <a:p>
            <a:pPr algn="l">
              <a:lnSpc>
                <a:spcPct val="130000"/>
              </a:lnSpc>
              <a:spcAft>
                <a:spcPts val="1200"/>
              </a:spcAft>
            </a:pPr>
            <a:r>
              <a:rPr sz="1600" b="1">
                <a:solidFill>
                  <a:srgbClr val="12171F"/>
                </a:solidFill>
                <a:latin typeface="Segoe UI"/>
              </a:rPr>
              <a:t>Settling it decides whether a whole class of welfare measurements means anything — and whether we over- or under-attribute moral significance to AI systems.</a:t>
            </a:r>
          </a:p>
        </p:txBody>
      </p:sp>
      <p:sp>
        <p:nvSpPr>
          <p:cNvPr id="5" name="TextBox 4"/>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02</a:t>
            </a:r>
          </a:p>
        </p:txBody>
      </p:sp>
      <p:sp>
        <p:nvSpPr>
          <p:cNvPr id="6" name="Rectangle 5"/>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THE DESIGN</a:t>
            </a:r>
          </a:p>
        </p:txBody>
      </p:sp>
      <p:sp>
        <p:nvSpPr>
          <p:cNvPr id="3" name="TextBox 2"/>
          <p:cNvSpPr txBox="1"/>
          <p:nvPr/>
        </p:nvSpPr>
        <p:spPr>
          <a:xfrm>
            <a:off x="822960" y="960120"/>
            <a:ext cx="10545775" cy="1371600"/>
          </a:xfrm>
          <a:prstGeom prst="rect">
            <a:avLst/>
          </a:prstGeom>
          <a:noFill/>
        </p:spPr>
        <p:txBody>
          <a:bodyPr wrap="square">
            <a:spAutoFit/>
          </a:bodyPr>
          <a:lstStyle/>
          <a:p>
            <a:pPr algn="l">
              <a:lnSpc>
                <a:spcPct val="105000"/>
              </a:lnSpc>
              <a:spcAft>
                <a:spcPts val="800"/>
              </a:spcAft>
            </a:pPr>
            <a:r>
              <a:rPr sz="4000" b="1">
                <a:solidFill>
                  <a:srgbClr val="12171F"/>
                </a:solidFill>
                <a:latin typeface="Georgia"/>
              </a:rPr>
              <a:t>Two confounds, removed by construction</a:t>
            </a:r>
          </a:p>
        </p:txBody>
      </p:sp>
      <p:sp>
        <p:nvSpPr>
          <p:cNvPr id="4" name="TextBox 3"/>
          <p:cNvSpPr txBox="1"/>
          <p:nvPr/>
        </p:nvSpPr>
        <p:spPr>
          <a:xfrm>
            <a:off x="822960" y="2240280"/>
            <a:ext cx="9326880" cy="3611880"/>
          </a:xfrm>
          <a:prstGeom prst="rect">
            <a:avLst/>
          </a:prstGeom>
          <a:noFill/>
        </p:spPr>
        <p:txBody>
          <a:bodyPr wrap="square">
            <a:spAutoFit/>
          </a:bodyPr>
          <a:lstStyle/>
          <a:p>
            <a:pPr>
              <a:lnSpc>
                <a:spcPct val="130000"/>
              </a:lnSpc>
              <a:spcAft>
                <a:spcPts val="1300"/>
              </a:spcAft>
            </a:pPr>
            <a:r>
              <a:rPr sz="1500">
                <a:solidFill>
                  <a:srgbClr val="0F6E8C"/>
                </a:solidFill>
                <a:latin typeface="Segoe UI"/>
              </a:rPr>
              <a:t>— </a:t>
            </a:r>
            <a:r>
              <a:rPr sz="1500" b="1">
                <a:solidFill>
                  <a:srgbClr val="12171F"/>
                </a:solidFill>
                <a:latin typeface="Segoe UI"/>
              </a:rPr>
              <a:t>Capability. </a:t>
            </a:r>
            <a:r>
              <a:rPr sz="1500">
                <a:solidFill>
                  <a:srgbClr val="12171F"/>
                </a:solidFill>
                <a:latin typeface="Segoe UI"/>
              </a:rPr>
              <a:t>The "self" model is usually also the smartest model in the comparison. We use two models sharing a pretraining base — Llama-3.1-70B and Hermes-3-70B — in a crossed 2×2, so a general competence edge cancels.</a:t>
            </a:r>
          </a:p>
          <a:p>
            <a:pPr>
              <a:lnSpc>
                <a:spcPct val="130000"/>
              </a:lnSpc>
              <a:spcAft>
                <a:spcPts val="1300"/>
              </a:spcAft>
            </a:pPr>
            <a:r>
              <a:rPr sz="1500">
                <a:solidFill>
                  <a:srgbClr val="0F6E8C"/>
                </a:solidFill>
                <a:latin typeface="Segoe UI"/>
              </a:rPr>
              <a:t>— </a:t>
            </a:r>
            <a:r>
              <a:rPr sz="1500" b="1">
                <a:solidFill>
                  <a:srgbClr val="12171F"/>
                </a:solidFill>
                <a:latin typeface="Segoe UI"/>
              </a:rPr>
              <a:t>Surface leakage. </a:t>
            </a:r>
            <a:r>
              <a:rPr sz="1500">
                <a:solidFill>
                  <a:srgbClr val="12171F"/>
                </a:solidFill>
                <a:latin typeface="Segoe UI"/>
              </a:rPr>
              <a:t>A hidden property is only interesting if a third party can't read it off the text. We fit an 18-feature style classifier to every stimulus set and gate on it before collecting main data.</a:t>
            </a:r>
          </a:p>
          <a:p>
            <a:pPr>
              <a:lnSpc>
                <a:spcPct val="130000"/>
              </a:lnSpc>
              <a:spcAft>
                <a:spcPts val="1300"/>
              </a:spcAft>
            </a:pPr>
            <a:r>
              <a:rPr sz="1500">
                <a:solidFill>
                  <a:srgbClr val="0F6E8C"/>
                </a:solidFill>
                <a:latin typeface="Segoe UI"/>
              </a:rPr>
              <a:t>— </a:t>
            </a:r>
            <a:r>
              <a:rPr sz="1500" b="1">
                <a:solidFill>
                  <a:srgbClr val="12171F"/>
                </a:solidFill>
                <a:latin typeface="Segoe UI"/>
              </a:rPr>
              <a:t>Ground truth is constructed, not elicited. </a:t>
            </a:r>
            <a:r>
              <a:rPr sz="1500">
                <a:solidFill>
                  <a:srgbClr val="12171F"/>
                </a:solidFill>
                <a:latin typeface="Segoe UI"/>
              </a:rPr>
              <a:t>We set which persona writes each text and store the label where the prediction code structurally cannot reach it.</a:t>
            </a:r>
          </a:p>
        </p:txBody>
      </p:sp>
      <p:sp>
        <p:nvSpPr>
          <p:cNvPr id="5" name="TextBox 4"/>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03</a:t>
            </a:r>
          </a:p>
        </p:txBody>
      </p:sp>
      <p:sp>
        <p:nvSpPr>
          <p:cNvPr id="6" name="Rectangle 5"/>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FINDING 1</a:t>
            </a:r>
          </a:p>
        </p:txBody>
      </p:sp>
      <p:sp>
        <p:nvSpPr>
          <p:cNvPr id="3" name="TextBox 2"/>
          <p:cNvSpPr txBox="1"/>
          <p:nvPr/>
        </p:nvSpPr>
        <p:spPr>
          <a:xfrm>
            <a:off x="822960" y="960120"/>
            <a:ext cx="10545775" cy="1371600"/>
          </a:xfrm>
          <a:prstGeom prst="rect">
            <a:avLst/>
          </a:prstGeom>
          <a:noFill/>
        </p:spPr>
        <p:txBody>
          <a:bodyPr wrap="square">
            <a:spAutoFit/>
          </a:bodyPr>
          <a:lstStyle/>
          <a:p>
            <a:pPr algn="l">
              <a:lnSpc>
                <a:spcPct val="105000"/>
              </a:lnSpc>
              <a:spcAft>
                <a:spcPts val="800"/>
              </a:spcAft>
            </a:pPr>
            <a:r>
              <a:rPr sz="3400" b="1">
                <a:solidFill>
                  <a:srgbClr val="12171F"/>
                </a:solidFill>
                <a:latin typeface="Georgia"/>
              </a:rPr>
              <a:t>What looked like self-recognition was style-recognition</a:t>
            </a:r>
          </a:p>
        </p:txBody>
      </p:sp>
      <p:pic>
        <p:nvPicPr>
          <p:cNvPr id="4" name="Picture 3" descr="fig1_self_vs_surface.png"/>
          <p:cNvPicPr>
            <a:picLocks noChangeAspect="1"/>
          </p:cNvPicPr>
          <p:nvPr/>
        </p:nvPicPr>
        <p:blipFill>
          <a:blip r:embed="rId2"/>
          <a:stretch>
            <a:fillRect/>
          </a:stretch>
        </p:blipFill>
        <p:spPr>
          <a:xfrm>
            <a:off x="3982982" y="1874519"/>
            <a:ext cx="4225731" cy="3657600"/>
          </a:xfrm>
          <a:prstGeom prst="rect">
            <a:avLst/>
          </a:prstGeom>
        </p:spPr>
      </p:pic>
      <p:sp>
        <p:nvSpPr>
          <p:cNvPr id="5" name="TextBox 4"/>
          <p:cNvSpPr txBox="1"/>
          <p:nvPr/>
        </p:nvSpPr>
        <p:spPr>
          <a:xfrm>
            <a:off x="822960" y="5623560"/>
            <a:ext cx="10545775" cy="731520"/>
          </a:xfrm>
          <a:prstGeom prst="rect">
            <a:avLst/>
          </a:prstGeom>
          <a:noFill/>
        </p:spPr>
        <p:txBody>
          <a:bodyPr wrap="square">
            <a:spAutoFit/>
          </a:bodyPr>
          <a:lstStyle/>
          <a:p>
            <a:pPr algn="ctr">
              <a:lnSpc>
                <a:spcPct val="125000"/>
              </a:lnSpc>
              <a:spcAft>
                <a:spcPts val="800"/>
              </a:spcAft>
            </a:pPr>
            <a:r>
              <a:rPr sz="1200" b="0">
                <a:solidFill>
                  <a:srgbClr val="59636F"/>
                </a:solidFill>
                <a:latin typeface="Segoe UI"/>
              </a:rPr>
              <a:t>Ten conditions, five stimulus designs. Self-prediction tracks the style classifier at r = +0.71; the classifier matches or beats the model in six of ten.</a:t>
            </a:r>
          </a:p>
        </p:txBody>
      </p:sp>
      <p:sp>
        <p:nvSpPr>
          <p:cNvPr id="6" name="TextBox 5"/>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04</a:t>
            </a:r>
          </a:p>
        </p:txBody>
      </p:sp>
      <p:sp>
        <p:nvSpPr>
          <p:cNvPr id="7" name="Rectangle 6"/>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FINDING 2  ·  24 CELLS  ·  9,269 TRIALS  ·  FOUR INDEPENDENT STIMULUS DESIGNS</a:t>
            </a:r>
          </a:p>
        </p:txBody>
      </p:sp>
      <p:sp>
        <p:nvSpPr>
          <p:cNvPr id="3" name="TextBox 2"/>
          <p:cNvSpPr txBox="1"/>
          <p:nvPr/>
        </p:nvSpPr>
        <p:spPr>
          <a:xfrm>
            <a:off x="822960" y="960120"/>
            <a:ext cx="10545775" cy="1371600"/>
          </a:xfrm>
          <a:prstGeom prst="rect">
            <a:avLst/>
          </a:prstGeom>
          <a:noFill/>
        </p:spPr>
        <p:txBody>
          <a:bodyPr wrap="square">
            <a:spAutoFit/>
          </a:bodyPr>
          <a:lstStyle/>
          <a:p>
            <a:pPr algn="l">
              <a:lnSpc>
                <a:spcPct val="105000"/>
              </a:lnSpc>
              <a:spcAft>
                <a:spcPts val="800"/>
              </a:spcAft>
            </a:pPr>
            <a:r>
              <a:rPr sz="3400" b="1">
                <a:solidFill>
                  <a:srgbClr val="12171F"/>
                </a:solidFill>
                <a:latin typeface="Georgia"/>
              </a:rPr>
              <a:t>No self-advantage in any design — replicated four times</a:t>
            </a:r>
          </a:p>
        </p:txBody>
      </p:sp>
      <p:graphicFrame>
        <p:nvGraphicFramePr>
          <p:cNvPr id="4" name="Table 3"/>
          <p:cNvGraphicFramePr>
            <a:graphicFrameLocks noGrp="1"/>
          </p:cNvGraphicFramePr>
          <p:nvPr/>
        </p:nvGraphicFramePr>
        <p:xfrm>
          <a:off x="822960" y="2011680"/>
          <a:ext cx="10607040" cy="2194560"/>
        </p:xfrm>
        <a:graphic>
          <a:graphicData uri="http://schemas.openxmlformats.org/drawingml/2006/table">
            <a:tbl>
              <a:tblPr firstRow="1" bandRow="1">
                <a:tableStyleId>{5C22544A-7EE6-4342-B048-85BDC9FD1C3A}</a:tableStyleId>
              </a:tblPr>
              <a:tblGrid>
                <a:gridCol w="3017520"/>
                <a:gridCol w="2103120"/>
                <a:gridCol w="2834640"/>
                <a:gridCol w="2651760"/>
              </a:tblGrid>
              <a:tr h="438912">
                <a:tc>
                  <a:txBody>
                    <a:bodyPr/>
                    <a:lstStyle/>
                    <a:p>
                      <a:pPr algn="l"/>
                      <a:r>
                        <a:rPr sz="1000" b="1">
                          <a:solidFill>
                            <a:srgbClr val="59636F"/>
                          </a:solidFill>
                          <a:latin typeface="Segoe UI"/>
                        </a:rPr>
                        <a:t>Stimulus set</a:t>
                      </a:r>
                    </a:p>
                  </a:txBody>
                  <a:tcPr>
                    <a:solidFill>
                      <a:srgbClr val="EEF3F6"/>
                    </a:solidFill>
                  </a:tcPr>
                </a:tc>
                <a:tc>
                  <a:txBody>
                    <a:bodyPr/>
                    <a:lstStyle/>
                    <a:p>
                      <a:pPr algn="l"/>
                      <a:r>
                        <a:rPr sz="1000" b="1">
                          <a:solidFill>
                            <a:srgbClr val="59636F"/>
                          </a:solidFill>
                          <a:latin typeface="Segoe UI"/>
                        </a:rPr>
                        <a:t>Surface baseline</a:t>
                      </a:r>
                    </a:p>
                  </a:txBody>
                  <a:tcPr>
                    <a:solidFill>
                      <a:srgbClr val="EEF3F6"/>
                    </a:solidFill>
                  </a:tcPr>
                </a:tc>
                <a:tc>
                  <a:txBody>
                    <a:bodyPr/>
                    <a:lstStyle/>
                    <a:p>
                      <a:pPr algn="l"/>
                      <a:r>
                        <a:rPr sz="1000" b="1">
                          <a:solidFill>
                            <a:srgbClr val="59636F"/>
                          </a:solidFill>
                          <a:latin typeface="Segoe UI"/>
                        </a:rPr>
                        <a:t>Self-advantage</a:t>
                      </a:r>
                    </a:p>
                  </a:txBody>
                  <a:tcPr>
                    <a:solidFill>
                      <a:srgbClr val="EEF3F6"/>
                    </a:solidFill>
                  </a:tcPr>
                </a:tc>
                <a:tc>
                  <a:txBody>
                    <a:bodyPr/>
                    <a:lstStyle/>
                    <a:p>
                      <a:pPr algn="l"/>
                      <a:r>
                        <a:rPr sz="1000" b="1">
                          <a:solidFill>
                            <a:srgbClr val="59636F"/>
                          </a:solidFill>
                          <a:latin typeface="Segoe UI"/>
                        </a:rPr>
                        <a:t>Interaction</a:t>
                      </a:r>
                    </a:p>
                  </a:txBody>
                  <a:tcPr>
                    <a:solidFill>
                      <a:srgbClr val="EEF3F6"/>
                    </a:solidFill>
                  </a:tcPr>
                </a:tc>
              </a:tr>
              <a:tr h="438912">
                <a:tc>
                  <a:txBody>
                    <a:bodyPr/>
                    <a:lstStyle/>
                    <a:p>
                      <a:pPr algn="l"/>
                      <a:r>
                        <a:rPr sz="1100" b="0">
                          <a:solidFill>
                            <a:srgbClr val="12171F"/>
                          </a:solidFill>
                          <a:latin typeface="Segoe UI"/>
                        </a:rPr>
                        <a:t>VO-D  (style-equalised)</a:t>
                      </a:r>
                    </a:p>
                  </a:txBody>
                  <a:tcPr>
                    <a:solidFill>
                      <a:srgbClr val="FFFFFF"/>
                    </a:solidFill>
                  </a:tcPr>
                </a:tc>
                <a:tc>
                  <a:txBody>
                    <a:bodyPr/>
                    <a:lstStyle/>
                    <a:p>
                      <a:pPr algn="l"/>
                      <a:r>
                        <a:rPr sz="1100" b="0">
                          <a:solidFill>
                            <a:srgbClr val="12171F"/>
                          </a:solidFill>
                          <a:latin typeface="Consolas"/>
                        </a:rPr>
                        <a:t>0.55 / 0.54</a:t>
                      </a:r>
                    </a:p>
                  </a:txBody>
                  <a:tcPr>
                    <a:solidFill>
                      <a:srgbClr val="FFFFFF"/>
                    </a:solidFill>
                  </a:tcPr>
                </a:tc>
                <a:tc>
                  <a:txBody>
                    <a:bodyPr/>
                    <a:lstStyle/>
                    <a:p>
                      <a:pPr algn="l"/>
                      <a:r>
                        <a:rPr sz="1100" b="0">
                          <a:solidFill>
                            <a:srgbClr val="12171F"/>
                          </a:solidFill>
                          <a:latin typeface="Consolas"/>
                        </a:rPr>
                        <a:t>+0.000 [−0.015, +0.015]</a:t>
                      </a:r>
                    </a:p>
                  </a:txBody>
                  <a:tcPr>
                    <a:solidFill>
                      <a:srgbClr val="FFFFFF"/>
                    </a:solidFill>
                  </a:tcPr>
                </a:tc>
                <a:tc>
                  <a:txBody>
                    <a:bodyPr/>
                    <a:lstStyle/>
                    <a:p>
                      <a:pPr algn="l"/>
                      <a:r>
                        <a:rPr sz="1100" b="0">
                          <a:solidFill>
                            <a:srgbClr val="12171F"/>
                          </a:solidFill>
                          <a:latin typeface="Consolas"/>
                        </a:rPr>
                        <a:t>−0.006 [−0.033, +0.021]</a:t>
                      </a:r>
                    </a:p>
                  </a:txBody>
                  <a:tcPr>
                    <a:solidFill>
                      <a:srgbClr val="FFFFFF"/>
                    </a:solidFill>
                  </a:tcPr>
                </a:tc>
              </a:tr>
              <a:tr h="438912">
                <a:tc>
                  <a:txBody>
                    <a:bodyPr/>
                    <a:lstStyle/>
                    <a:p>
                      <a:pPr algn="l"/>
                      <a:r>
                        <a:rPr sz="1100" b="0">
                          <a:solidFill>
                            <a:srgbClr val="12171F"/>
                          </a:solidFill>
                          <a:latin typeface="Segoe UI"/>
                        </a:rPr>
                        <a:t>VO-B</a:t>
                      </a:r>
                    </a:p>
                  </a:txBody>
                  <a:tcPr>
                    <a:solidFill>
                      <a:srgbClr val="EEF3F6"/>
                    </a:solidFill>
                  </a:tcPr>
                </a:tc>
                <a:tc>
                  <a:txBody>
                    <a:bodyPr/>
                    <a:lstStyle/>
                    <a:p>
                      <a:pPr algn="l"/>
                      <a:r>
                        <a:rPr sz="1100" b="0">
                          <a:solidFill>
                            <a:srgbClr val="12171F"/>
                          </a:solidFill>
                          <a:latin typeface="Consolas"/>
                        </a:rPr>
                        <a:t>0.65 / 0.75</a:t>
                      </a:r>
                    </a:p>
                  </a:txBody>
                  <a:tcPr>
                    <a:solidFill>
                      <a:srgbClr val="EEF3F6"/>
                    </a:solidFill>
                  </a:tcPr>
                </a:tc>
                <a:tc>
                  <a:txBody>
                    <a:bodyPr/>
                    <a:lstStyle/>
                    <a:p>
                      <a:pPr algn="l"/>
                      <a:r>
                        <a:rPr sz="1100" b="0">
                          <a:solidFill>
                            <a:srgbClr val="12171F"/>
                          </a:solidFill>
                          <a:latin typeface="Consolas"/>
                        </a:rPr>
                        <a:t>+0.000 [−0.033, +0.035]</a:t>
                      </a:r>
                    </a:p>
                  </a:txBody>
                  <a:tcPr>
                    <a:solidFill>
                      <a:srgbClr val="EEF3F6"/>
                    </a:solidFill>
                  </a:tcPr>
                </a:tc>
                <a:tc>
                  <a:txBody>
                    <a:bodyPr/>
                    <a:lstStyle/>
                    <a:p>
                      <a:pPr algn="l"/>
                      <a:r>
                        <a:rPr sz="1100" b="0">
                          <a:solidFill>
                            <a:srgbClr val="12171F"/>
                          </a:solidFill>
                          <a:latin typeface="Consolas"/>
                        </a:rPr>
                        <a:t>+0.005 [−0.040, +0.050]</a:t>
                      </a:r>
                    </a:p>
                  </a:txBody>
                  <a:tcPr>
                    <a:solidFill>
                      <a:srgbClr val="EEF3F6"/>
                    </a:solidFill>
                  </a:tcPr>
                </a:tc>
              </a:tr>
              <a:tr h="438912">
                <a:tc>
                  <a:txBody>
                    <a:bodyPr/>
                    <a:lstStyle/>
                    <a:p>
                      <a:pPr algn="l"/>
                      <a:r>
                        <a:rPr sz="1100" b="0">
                          <a:solidFill>
                            <a:srgbClr val="12171F"/>
                          </a:solidFill>
                          <a:latin typeface="Segoe UI"/>
                        </a:rPr>
                        <a:t>VO-A</a:t>
                      </a:r>
                    </a:p>
                  </a:txBody>
                  <a:tcPr>
                    <a:solidFill>
                      <a:srgbClr val="FFFFFF"/>
                    </a:solidFill>
                  </a:tcPr>
                </a:tc>
                <a:tc>
                  <a:txBody>
                    <a:bodyPr/>
                    <a:lstStyle/>
                    <a:p>
                      <a:pPr algn="l"/>
                      <a:r>
                        <a:rPr sz="1100" b="0">
                          <a:solidFill>
                            <a:srgbClr val="12171F"/>
                          </a:solidFill>
                          <a:latin typeface="Consolas"/>
                        </a:rPr>
                        <a:t>0.66 / 0.75</a:t>
                      </a:r>
                    </a:p>
                  </a:txBody>
                  <a:tcPr>
                    <a:solidFill>
                      <a:srgbClr val="FFFFFF"/>
                    </a:solidFill>
                  </a:tcPr>
                </a:tc>
                <a:tc>
                  <a:txBody>
                    <a:bodyPr/>
                    <a:lstStyle/>
                    <a:p>
                      <a:pPr algn="l"/>
                      <a:r>
                        <a:rPr sz="1100" b="0">
                          <a:solidFill>
                            <a:srgbClr val="12171F"/>
                          </a:solidFill>
                          <a:latin typeface="Consolas"/>
                        </a:rPr>
                        <a:t>+0.020 [−0.015, +0.056]</a:t>
                      </a:r>
                    </a:p>
                  </a:txBody>
                  <a:tcPr>
                    <a:solidFill>
                      <a:srgbClr val="FFFFFF"/>
                    </a:solidFill>
                  </a:tcPr>
                </a:tc>
                <a:tc>
                  <a:txBody>
                    <a:bodyPr/>
                    <a:lstStyle/>
                    <a:p>
                      <a:pPr algn="l"/>
                      <a:r>
                        <a:rPr sz="1100" b="0">
                          <a:solidFill>
                            <a:srgbClr val="12171F"/>
                          </a:solidFill>
                          <a:latin typeface="Consolas"/>
                        </a:rPr>
                        <a:t>−0.030 [−0.079, +0.018]</a:t>
                      </a:r>
                    </a:p>
                  </a:txBody>
                  <a:tcPr>
                    <a:solidFill>
                      <a:srgbClr val="FFFFFF"/>
                    </a:solidFill>
                  </a:tcPr>
                </a:tc>
              </a:tr>
              <a:tr h="438912">
                <a:tc>
                  <a:txBody>
                    <a:bodyPr/>
                    <a:lstStyle/>
                    <a:p>
                      <a:pPr algn="l"/>
                      <a:r>
                        <a:rPr sz="1100" b="1">
                          <a:solidFill>
                            <a:srgbClr val="12171F"/>
                          </a:solidFill>
                          <a:latin typeface="Segoe UI"/>
                        </a:rPr>
                        <a:t>VO-C  (leakiest)</a:t>
                      </a:r>
                    </a:p>
                  </a:txBody>
                  <a:tcPr>
                    <a:solidFill>
                      <a:srgbClr val="EEF3F6"/>
                    </a:solidFill>
                  </a:tcPr>
                </a:tc>
                <a:tc>
                  <a:txBody>
                    <a:bodyPr/>
                    <a:lstStyle/>
                    <a:p>
                      <a:pPr algn="l"/>
                      <a:r>
                        <a:rPr sz="1100" b="1">
                          <a:solidFill>
                            <a:srgbClr val="12171F"/>
                          </a:solidFill>
                          <a:latin typeface="Consolas"/>
                        </a:rPr>
                        <a:t>0.69 / 0.85</a:t>
                      </a:r>
                    </a:p>
                  </a:txBody>
                  <a:tcPr>
                    <a:solidFill>
                      <a:srgbClr val="EEF3F6"/>
                    </a:solidFill>
                  </a:tcPr>
                </a:tc>
                <a:tc>
                  <a:txBody>
                    <a:bodyPr/>
                    <a:lstStyle/>
                    <a:p>
                      <a:pPr algn="l"/>
                      <a:r>
                        <a:rPr sz="1100" b="1">
                          <a:solidFill>
                            <a:srgbClr val="12171F"/>
                          </a:solidFill>
                          <a:latin typeface="Consolas"/>
                        </a:rPr>
                        <a:t>−0.033 [−0.058, −0.008]</a:t>
                      </a:r>
                    </a:p>
                  </a:txBody>
                  <a:tcPr>
                    <a:solidFill>
                      <a:srgbClr val="EEF3F6"/>
                    </a:solidFill>
                  </a:tcPr>
                </a:tc>
                <a:tc>
                  <a:txBody>
                    <a:bodyPr/>
                    <a:lstStyle/>
                    <a:p>
                      <a:pPr algn="l"/>
                      <a:r>
                        <a:rPr sz="1100" b="1">
                          <a:solidFill>
                            <a:srgbClr val="12171F"/>
                          </a:solidFill>
                          <a:latin typeface="Consolas"/>
                        </a:rPr>
                        <a:t>+0.089 [+0.048, +0.131]</a:t>
                      </a:r>
                    </a:p>
                  </a:txBody>
                  <a:tcPr>
                    <a:solidFill>
                      <a:srgbClr val="EEF3F6"/>
                    </a:solidFill>
                  </a:tcPr>
                </a:tc>
              </a:tr>
            </a:tbl>
          </a:graphicData>
        </a:graphic>
      </p:graphicFrame>
      <p:sp>
        <p:nvSpPr>
          <p:cNvPr id="5" name="TextBox 4"/>
          <p:cNvSpPr txBox="1"/>
          <p:nvPr/>
        </p:nvSpPr>
        <p:spPr>
          <a:xfrm>
            <a:off x="822960" y="4572000"/>
            <a:ext cx="8778240" cy="1280160"/>
          </a:xfrm>
          <a:prstGeom prst="rect">
            <a:avLst/>
          </a:prstGeom>
          <a:noFill/>
        </p:spPr>
        <p:txBody>
          <a:bodyPr wrap="square">
            <a:spAutoFit/>
          </a:bodyPr>
          <a:lstStyle/>
          <a:p>
            <a:pPr algn="l">
              <a:lnSpc>
                <a:spcPct val="130000"/>
              </a:lnSpc>
              <a:spcAft>
                <a:spcPts val="1200"/>
              </a:spcAft>
            </a:pPr>
            <a:r>
              <a:rPr sz="1500" b="1">
                <a:solidFill>
                  <a:srgbClr val="12171F"/>
                </a:solidFill>
                <a:latin typeface="Segoe UI"/>
              </a:rPr>
              <a:t>Not one set shows a positive self-advantage whose interval excludes zero. The only significant one is negative, and the only non-zero interaction belongs to the leakiest stimuli in the study.</a:t>
            </a:r>
          </a:p>
        </p:txBody>
      </p:sp>
      <p:sp>
        <p:nvSpPr>
          <p:cNvPr id="6" name="TextBox 5"/>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05</a:t>
            </a:r>
          </a:p>
        </p:txBody>
      </p:sp>
      <p:sp>
        <p:nvSpPr>
          <p:cNvPr id="7" name="Rectangle 6"/>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FINDING 3  ·  BINDER'S PARADIGM, BLACK-BOX</a:t>
            </a:r>
          </a:p>
        </p:txBody>
      </p:sp>
      <p:sp>
        <p:nvSpPr>
          <p:cNvPr id="3" name="TextBox 2"/>
          <p:cNvSpPr txBox="1"/>
          <p:nvPr/>
        </p:nvSpPr>
        <p:spPr>
          <a:xfrm>
            <a:off x="822960" y="960120"/>
            <a:ext cx="10545775" cy="1371600"/>
          </a:xfrm>
          <a:prstGeom prst="rect">
            <a:avLst/>
          </a:prstGeom>
          <a:noFill/>
        </p:spPr>
        <p:txBody>
          <a:bodyPr wrap="square">
            <a:spAutoFit/>
          </a:bodyPr>
          <a:lstStyle/>
          <a:p>
            <a:pPr algn="l">
              <a:lnSpc>
                <a:spcPct val="105000"/>
              </a:lnSpc>
              <a:spcAft>
                <a:spcPts val="800"/>
              </a:spcAft>
            </a:pPr>
            <a:r>
              <a:rPr sz="3400" b="1">
                <a:solidFill>
                  <a:srgbClr val="12171F"/>
                </a:solidFill>
                <a:latin typeface="Georgia"/>
              </a:rPr>
              <a:t>One model really can predict itself. It still loses.</a:t>
            </a:r>
          </a:p>
        </p:txBody>
      </p:sp>
      <p:pic>
        <p:nvPicPr>
          <p:cNvPr id="4" name="Picture 3" descr="fig4_selfprediction.png"/>
          <p:cNvPicPr>
            <a:picLocks noChangeAspect="1"/>
          </p:cNvPicPr>
          <p:nvPr/>
        </p:nvPicPr>
        <p:blipFill>
          <a:blip r:embed="rId2"/>
          <a:stretch>
            <a:fillRect/>
          </a:stretch>
        </p:blipFill>
        <p:spPr>
          <a:xfrm>
            <a:off x="3593913" y="1874519"/>
            <a:ext cx="5003869" cy="3566160"/>
          </a:xfrm>
          <a:prstGeom prst="rect">
            <a:avLst/>
          </a:prstGeom>
        </p:spPr>
      </p:pic>
      <p:sp>
        <p:nvSpPr>
          <p:cNvPr id="5" name="TextBox 4"/>
          <p:cNvSpPr txBox="1"/>
          <p:nvPr/>
        </p:nvSpPr>
        <p:spPr>
          <a:xfrm>
            <a:off x="822960" y="5532120"/>
            <a:ext cx="10545775" cy="731520"/>
          </a:xfrm>
          <a:prstGeom prst="rect">
            <a:avLst/>
          </a:prstGeom>
          <a:noFill/>
        </p:spPr>
        <p:txBody>
          <a:bodyPr wrap="square">
            <a:spAutoFit/>
          </a:bodyPr>
          <a:lstStyle/>
          <a:p>
            <a:pPr algn="ctr">
              <a:lnSpc>
                <a:spcPct val="125000"/>
              </a:lnSpc>
              <a:spcAft>
                <a:spcPts val="800"/>
              </a:spcAft>
            </a:pPr>
            <a:r>
              <a:rPr sz="1200" b="0">
                <a:solidFill>
                  <a:srgbClr val="59636F"/>
                </a:solidFill>
                <a:latin typeface="Segoe UI"/>
              </a:rPr>
              <a:t>“Which of these two replies would you produce?”  Hermes-3 discriminates genuinely (+0.437 hit minus false-alarm); Llama-3.1 answers by position and shows none. An 18-feature regression does the same job at 0.831.</a:t>
            </a:r>
          </a:p>
        </p:txBody>
      </p:sp>
      <p:sp>
        <p:nvSpPr>
          <p:cNvPr id="6" name="TextBox 5"/>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06</a:t>
            </a:r>
          </a:p>
        </p:txBody>
      </p:sp>
      <p:sp>
        <p:nvSpPr>
          <p:cNvPr id="7" name="Rectangle 6"/>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WHAT WE RELEASE</a:t>
            </a:r>
          </a:p>
        </p:txBody>
      </p:sp>
      <p:sp>
        <p:nvSpPr>
          <p:cNvPr id="3" name="TextBox 2"/>
          <p:cNvSpPr txBox="1"/>
          <p:nvPr/>
        </p:nvSpPr>
        <p:spPr>
          <a:xfrm>
            <a:off x="822960" y="960120"/>
            <a:ext cx="10545775" cy="1371600"/>
          </a:xfrm>
          <a:prstGeom prst="rect">
            <a:avLst/>
          </a:prstGeom>
          <a:noFill/>
        </p:spPr>
        <p:txBody>
          <a:bodyPr wrap="square">
            <a:spAutoFit/>
          </a:bodyPr>
          <a:lstStyle/>
          <a:p>
            <a:pPr algn="l">
              <a:lnSpc>
                <a:spcPct val="105000"/>
              </a:lnSpc>
              <a:spcAft>
                <a:spcPts val="800"/>
              </a:spcAft>
            </a:pPr>
            <a:r>
              <a:rPr sz="4000" b="1">
                <a:solidFill>
                  <a:srgbClr val="12171F"/>
                </a:solidFill>
                <a:latin typeface="Georgia"/>
              </a:rPr>
              <a:t>Two checks that cost nothing and changed everything</a:t>
            </a:r>
          </a:p>
        </p:txBody>
      </p:sp>
      <p:sp>
        <p:nvSpPr>
          <p:cNvPr id="4" name="Rectangle 3"/>
          <p:cNvSpPr/>
          <p:nvPr/>
        </p:nvSpPr>
        <p:spPr>
          <a:xfrm>
            <a:off x="822960" y="2194560"/>
            <a:ext cx="4846320" cy="2286000"/>
          </a:xfrm>
          <a:prstGeom prst="rect">
            <a:avLst/>
          </a:prstGeom>
          <a:solidFill>
            <a:srgbClr val="FFFFFF"/>
          </a:solidFill>
          <a:ln w="9525">
            <a:solidFill>
              <a:srgbClr val="DCE2E8"/>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219456"/>
          <a:lstStyle/>
          <a:p>
            <a:pPr algn="l">
              <a:spcAft>
                <a:spcPts val="500"/>
              </a:spcAft>
            </a:pPr>
            <a:r>
              <a:rPr sz="1700" b="1">
                <a:solidFill>
                  <a:srgbClr val="12171F"/>
                </a:solidFill>
                <a:latin typeface="Segoe UI"/>
              </a:rPr>
              <a:t>Surface-leakage gate</a:t>
            </a:r>
          </a:p>
          <a:p>
            <a:pPr algn="l">
              <a:spcAft>
                <a:spcPts val="900"/>
              </a:spcAft>
            </a:pPr>
            <a:r>
              <a:rPr sz="1200" b="0">
                <a:solidFill>
                  <a:srgbClr val="0F6E8C"/>
                </a:solidFill>
                <a:latin typeface="Consolas"/>
              </a:rPr>
              <a:t>gate(texts, labels, groups)</a:t>
            </a:r>
          </a:p>
          <a:p>
            <a:pPr algn="l">
              <a:lnSpc>
                <a:spcPct val="130000"/>
              </a:lnSpc>
              <a:spcAft>
                <a:spcPts val="800"/>
              </a:spcAft>
            </a:pPr>
            <a:r>
              <a:rPr sz="1300" b="0">
                <a:solidFill>
                  <a:srgbClr val="59636F"/>
                </a:solidFill>
                <a:latin typeface="Segoe UI"/>
              </a:rPr>
              <a:t>Can a trivial style classifier already solve your hidden property? If yes, an above-chance result does not distinguish self-knowledge from style-reading. Cross-validation is grouped by source prompt by default.</a:t>
            </a:r>
          </a:p>
        </p:txBody>
      </p:sp>
      <p:sp>
        <p:nvSpPr>
          <p:cNvPr id="5" name="Rectangle 4"/>
          <p:cNvSpPr/>
          <p:nvPr/>
        </p:nvSpPr>
        <p:spPr>
          <a:xfrm>
            <a:off x="6080760" y="2194560"/>
            <a:ext cx="4846320" cy="2286000"/>
          </a:xfrm>
          <a:prstGeom prst="rect">
            <a:avLst/>
          </a:prstGeom>
          <a:solidFill>
            <a:srgbClr val="FFFFFF"/>
          </a:solidFill>
          <a:ln w="9525">
            <a:solidFill>
              <a:srgbClr val="DCE2E8"/>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219456"/>
          <a:lstStyle/>
          <a:p>
            <a:pPr algn="l">
              <a:spcAft>
                <a:spcPts val="500"/>
              </a:spcAft>
            </a:pPr>
            <a:r>
              <a:rPr sz="1700" b="1">
                <a:solidFill>
                  <a:srgbClr val="12171F"/>
                </a:solidFill>
                <a:latin typeface="Segoe UI"/>
              </a:rPr>
              <a:t>Response-bias check</a:t>
            </a:r>
          </a:p>
          <a:p>
            <a:pPr algn="l">
              <a:spcAft>
                <a:spcPts val="900"/>
              </a:spcAft>
            </a:pPr>
            <a:r>
              <a:rPr sz="1200" b="0">
                <a:solidFill>
                  <a:srgbClr val="0F6E8C"/>
                </a:solidFill>
                <a:latin typeface="Consolas"/>
              </a:rPr>
              <a:t>response_bias(answers)</a:t>
            </a:r>
          </a:p>
          <a:p>
            <a:pPr algn="l">
              <a:lnSpc>
                <a:spcPct val="130000"/>
              </a:lnSpc>
              <a:spcAft>
                <a:spcPts val="800"/>
              </a:spcAft>
            </a:pPr>
            <a:r>
              <a:rPr sz="1300" b="0">
                <a:solidFill>
                  <a:srgbClr val="59636F"/>
                </a:solidFill>
                <a:latin typeface="Segoe UI"/>
              </a:rPr>
              <a:t>Is the model answering the question, or answering by position? It caught two of our own results that would otherwise have published as clean nulls.</a:t>
            </a:r>
          </a:p>
        </p:txBody>
      </p:sp>
      <p:sp>
        <p:nvSpPr>
          <p:cNvPr id="6" name="TextBox 5"/>
          <p:cNvSpPr txBox="1"/>
          <p:nvPr/>
        </p:nvSpPr>
        <p:spPr>
          <a:xfrm>
            <a:off x="822960" y="4800600"/>
            <a:ext cx="8778240" cy="1051560"/>
          </a:xfrm>
          <a:prstGeom prst="rect">
            <a:avLst/>
          </a:prstGeom>
          <a:noFill/>
        </p:spPr>
        <p:txBody>
          <a:bodyPr wrap="square">
            <a:spAutoFit/>
          </a:bodyPr>
          <a:lstStyle/>
          <a:p>
            <a:pPr algn="l">
              <a:lnSpc>
                <a:spcPct val="130000"/>
              </a:lnSpc>
              <a:spcAft>
                <a:spcPts val="1200"/>
              </a:spcAft>
            </a:pPr>
            <a:r>
              <a:rPr sz="1400" b="1">
                <a:solidFill>
                  <a:srgbClr val="0F6E8C"/>
                </a:solidFill>
                <a:latin typeface="Segoe UI"/>
              </a:rPr>
              <a:t>One self-contained file, numpy only  ·  tools/surface_leakage_gate.py</a:t>
            </a:r>
          </a:p>
        </p:txBody>
      </p:sp>
      <p:sp>
        <p:nvSpPr>
          <p:cNvPr id="7" name="TextBox 6"/>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07</a:t>
            </a:r>
          </a:p>
        </p:txBody>
      </p:sp>
      <p:sp>
        <p:nvSpPr>
          <p:cNvPr id="8" name="Rectangle 7"/>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WHAT WE DO NOT CLAIM</a:t>
            </a:r>
          </a:p>
        </p:txBody>
      </p:sp>
      <p:sp>
        <p:nvSpPr>
          <p:cNvPr id="3" name="TextBox 2"/>
          <p:cNvSpPr txBox="1"/>
          <p:nvPr/>
        </p:nvSpPr>
        <p:spPr>
          <a:xfrm>
            <a:off x="822960" y="960120"/>
            <a:ext cx="10545775" cy="1371600"/>
          </a:xfrm>
          <a:prstGeom prst="rect">
            <a:avLst/>
          </a:prstGeom>
          <a:noFill/>
        </p:spPr>
        <p:txBody>
          <a:bodyPr wrap="square">
            <a:spAutoFit/>
          </a:bodyPr>
          <a:lstStyle/>
          <a:p>
            <a:pPr algn="l">
              <a:lnSpc>
                <a:spcPct val="105000"/>
              </a:lnSpc>
              <a:spcAft>
                <a:spcPts val="800"/>
              </a:spcAft>
            </a:pPr>
            <a:r>
              <a:rPr sz="4000" b="1">
                <a:solidFill>
                  <a:srgbClr val="12171F"/>
                </a:solidFill>
                <a:latin typeface="Georgia"/>
              </a:rPr>
              <a:t>The honest boundaries</a:t>
            </a:r>
          </a:p>
        </p:txBody>
      </p:sp>
      <p:sp>
        <p:nvSpPr>
          <p:cNvPr id="4" name="TextBox 3"/>
          <p:cNvSpPr txBox="1"/>
          <p:nvPr/>
        </p:nvSpPr>
        <p:spPr>
          <a:xfrm>
            <a:off x="822960" y="2240280"/>
            <a:ext cx="9326880" cy="3611880"/>
          </a:xfrm>
          <a:prstGeom prst="rect">
            <a:avLst/>
          </a:prstGeom>
          <a:noFill/>
        </p:spPr>
        <p:txBody>
          <a:bodyPr wrap="square">
            <a:spAutoFit/>
          </a:bodyPr>
          <a:lstStyle/>
          <a:p>
            <a:pPr>
              <a:lnSpc>
                <a:spcPct val="130000"/>
              </a:lnSpc>
              <a:spcAft>
                <a:spcPts val="1300"/>
              </a:spcAft>
            </a:pPr>
            <a:r>
              <a:rPr sz="1400">
                <a:solidFill>
                  <a:srgbClr val="0F6E8C"/>
                </a:solidFill>
                <a:latin typeface="Segoe UI"/>
              </a:rPr>
              <a:t>— </a:t>
            </a:r>
            <a:r>
              <a:rPr sz="1400">
                <a:solidFill>
                  <a:srgbClr val="12171F"/>
                </a:solidFill>
                <a:latin typeface="Segoe UI"/>
              </a:rPr>
              <a:t>Not a refutation of Binder et al. — they finetune on ~30k examples; we prompt.</a:t>
            </a:r>
          </a:p>
          <a:p>
            <a:pPr>
              <a:lnSpc>
                <a:spcPct val="130000"/>
              </a:lnSpc>
              <a:spcAft>
                <a:spcPts val="1300"/>
              </a:spcAft>
            </a:pPr>
            <a:r>
              <a:rPr sz="1400">
                <a:solidFill>
                  <a:srgbClr val="0F6E8C"/>
                </a:solidFill>
                <a:latin typeface="Segoe UI"/>
              </a:rPr>
              <a:t>— </a:t>
            </a:r>
            <a:r>
              <a:rPr sz="1400">
                <a:solidFill>
                  <a:srgbClr val="12171F"/>
                </a:solidFill>
                <a:latin typeface="Segoe UI"/>
              </a:rPr>
              <a:t>Nothing about consciousness, welfare or moral status. Prediction happens in a fresh session, so nothing here bears even on same-episode memory.</a:t>
            </a:r>
          </a:p>
          <a:p>
            <a:pPr>
              <a:lnSpc>
                <a:spcPct val="130000"/>
              </a:lnSpc>
              <a:spcAft>
                <a:spcPts val="1300"/>
              </a:spcAft>
            </a:pPr>
            <a:r>
              <a:rPr sz="1400">
                <a:solidFill>
                  <a:srgbClr val="0F6E8C"/>
                </a:solidFill>
                <a:latin typeface="Segoe UI"/>
              </a:rPr>
              <a:t>— </a:t>
            </a:r>
            <a:r>
              <a:rPr sz="1400">
                <a:solidFill>
                  <a:srgbClr val="12171F"/>
                </a:solidFill>
                <a:latin typeface="Segoe UI"/>
              </a:rPr>
              <a:t>One lineage, one values dimension, one provider at one quantization.</a:t>
            </a:r>
          </a:p>
          <a:p>
            <a:pPr>
              <a:lnSpc>
                <a:spcPct val="130000"/>
              </a:lnSpc>
              <a:spcAft>
                <a:spcPts val="1300"/>
              </a:spcAft>
            </a:pPr>
            <a:r>
              <a:rPr sz="1400">
                <a:solidFill>
                  <a:srgbClr val="0F6E8C"/>
                </a:solidFill>
                <a:latin typeface="Segoe UI"/>
              </a:rPr>
              <a:t>— </a:t>
            </a:r>
            <a:r>
              <a:rPr sz="1400">
                <a:solidFill>
                  <a:srgbClr val="B03A26"/>
                </a:solidFill>
                <a:latin typeface="Segoe UI"/>
              </a:rPr>
              <a:t>Two of our three self-recognition framings produced degenerate answers. We report them as elicitation failures, not as nulls.</a:t>
            </a:r>
          </a:p>
          <a:p>
            <a:pPr>
              <a:lnSpc>
                <a:spcPct val="130000"/>
              </a:lnSpc>
              <a:spcAft>
                <a:spcPts val="1300"/>
              </a:spcAft>
            </a:pPr>
            <a:r>
              <a:rPr sz="1400">
                <a:solidFill>
                  <a:srgbClr val="0F6E8C"/>
                </a:solidFill>
                <a:latin typeface="Segoe UI"/>
              </a:rPr>
              <a:t>— </a:t>
            </a:r>
            <a:r>
              <a:rPr sz="1400">
                <a:solidFill>
                  <a:srgbClr val="12171F"/>
                </a:solidFill>
                <a:latin typeface="Segoe UI"/>
              </a:rPr>
              <a:t>The style-equalised condition leaves everyone near chance — there, “no self-advantage” is partly “no signal for anyone.”</a:t>
            </a:r>
          </a:p>
        </p:txBody>
      </p:sp>
      <p:sp>
        <p:nvSpPr>
          <p:cNvPr id="5" name="TextBox 4"/>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08</a:t>
            </a:r>
          </a:p>
        </p:txBody>
      </p:sp>
      <p:sp>
        <p:nvSpPr>
          <p:cNvPr id="6" name="Rectangle 5"/>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RECEIPTS</a:t>
            </a:r>
          </a:p>
        </p:txBody>
      </p:sp>
      <p:sp>
        <p:nvSpPr>
          <p:cNvPr id="3" name="TextBox 2"/>
          <p:cNvSpPr txBox="1"/>
          <p:nvPr/>
        </p:nvSpPr>
        <p:spPr>
          <a:xfrm>
            <a:off x="822960" y="960120"/>
            <a:ext cx="10545775" cy="1371600"/>
          </a:xfrm>
          <a:prstGeom prst="rect">
            <a:avLst/>
          </a:prstGeom>
          <a:noFill/>
        </p:spPr>
        <p:txBody>
          <a:bodyPr wrap="square">
            <a:spAutoFit/>
          </a:bodyPr>
          <a:lstStyle/>
          <a:p>
            <a:pPr algn="l">
              <a:lnSpc>
                <a:spcPct val="105000"/>
              </a:lnSpc>
              <a:spcAft>
                <a:spcPts val="800"/>
              </a:spcAft>
            </a:pPr>
            <a:r>
              <a:rPr sz="4000" b="1">
                <a:solidFill>
                  <a:srgbClr val="12171F"/>
                </a:solidFill>
                <a:latin typeface="Georgia"/>
              </a:rPr>
              <a:t>What it took</a:t>
            </a:r>
          </a:p>
        </p:txBody>
      </p:sp>
      <p:sp>
        <p:nvSpPr>
          <p:cNvPr id="4" name="TextBox 3"/>
          <p:cNvSpPr txBox="1"/>
          <p:nvPr/>
        </p:nvSpPr>
        <p:spPr>
          <a:xfrm>
            <a:off x="822960" y="2286000"/>
            <a:ext cx="2011680" cy="1828800"/>
          </a:xfrm>
          <a:prstGeom prst="rect">
            <a:avLst/>
          </a:prstGeom>
          <a:noFill/>
        </p:spPr>
        <p:txBody>
          <a:bodyPr wrap="square">
            <a:spAutoFit/>
          </a:bodyPr>
          <a:lstStyle/>
          <a:p>
            <a:pPr algn="l">
              <a:spcAft>
                <a:spcPts val="600"/>
              </a:spcAft>
            </a:pPr>
            <a:r>
              <a:rPr sz="4000" b="1">
                <a:solidFill>
                  <a:srgbClr val="0F6E8C"/>
                </a:solidFill>
                <a:latin typeface="Consolas"/>
              </a:rPr>
              <a:t>9,269</a:t>
            </a:r>
          </a:p>
          <a:p>
            <a:pPr algn="l">
              <a:lnSpc>
                <a:spcPct val="120000"/>
              </a:lnSpc>
              <a:spcAft>
                <a:spcPts val="100"/>
              </a:spcAft>
            </a:pPr>
            <a:r>
              <a:rPr sz="1200" b="0">
                <a:solidFill>
                  <a:srgbClr val="59636F"/>
                </a:solidFill>
                <a:latin typeface="Segoe UI"/>
              </a:rPr>
              <a:t>scored trials across</a:t>
            </a:r>
          </a:p>
          <a:p>
            <a:pPr algn="l">
              <a:lnSpc>
                <a:spcPct val="120000"/>
              </a:lnSpc>
              <a:spcAft>
                <a:spcPts val="100"/>
              </a:spcAft>
            </a:pPr>
            <a:r>
              <a:rPr sz="1200" b="0">
                <a:solidFill>
                  <a:srgbClr val="59636F"/>
                </a:solidFill>
                <a:latin typeface="Segoe UI"/>
              </a:rPr>
              <a:t>24 crossed cells</a:t>
            </a:r>
          </a:p>
        </p:txBody>
      </p:sp>
      <p:sp>
        <p:nvSpPr>
          <p:cNvPr id="5" name="TextBox 4"/>
          <p:cNvSpPr txBox="1"/>
          <p:nvPr/>
        </p:nvSpPr>
        <p:spPr>
          <a:xfrm>
            <a:off x="2971800" y="2286000"/>
            <a:ext cx="2011680" cy="1828800"/>
          </a:xfrm>
          <a:prstGeom prst="rect">
            <a:avLst/>
          </a:prstGeom>
          <a:noFill/>
        </p:spPr>
        <p:txBody>
          <a:bodyPr wrap="square">
            <a:spAutoFit/>
          </a:bodyPr>
          <a:lstStyle/>
          <a:p>
            <a:pPr algn="l">
              <a:spcAft>
                <a:spcPts val="600"/>
              </a:spcAft>
            </a:pPr>
            <a:r>
              <a:rPr sz="4000" b="1">
                <a:solidFill>
                  <a:srgbClr val="0F6E8C"/>
                </a:solidFill>
                <a:latin typeface="Consolas"/>
              </a:rPr>
              <a:t>$3.12</a:t>
            </a:r>
          </a:p>
          <a:p>
            <a:pPr algn="l">
              <a:lnSpc>
                <a:spcPct val="120000"/>
              </a:lnSpc>
              <a:spcAft>
                <a:spcPts val="100"/>
              </a:spcAft>
            </a:pPr>
            <a:r>
              <a:rPr sz="1200" b="0">
                <a:solidFill>
                  <a:srgbClr val="59636F"/>
                </a:solidFill>
                <a:latin typeface="Segoe UI"/>
              </a:rPr>
              <a:t>total API spend,</a:t>
            </a:r>
          </a:p>
          <a:p>
            <a:pPr algn="l">
              <a:lnSpc>
                <a:spcPct val="120000"/>
              </a:lnSpc>
              <a:spcAft>
                <a:spcPts val="100"/>
              </a:spcAft>
            </a:pPr>
            <a:r>
              <a:rPr sz="1200" b="0">
                <a:solidFill>
                  <a:srgbClr val="59636F"/>
                </a:solidFill>
                <a:latin typeface="Segoe UI"/>
              </a:rPr>
              <a:t>of a $10 ceiling</a:t>
            </a:r>
          </a:p>
        </p:txBody>
      </p:sp>
      <p:sp>
        <p:nvSpPr>
          <p:cNvPr id="6" name="TextBox 5"/>
          <p:cNvSpPr txBox="1"/>
          <p:nvPr/>
        </p:nvSpPr>
        <p:spPr>
          <a:xfrm>
            <a:off x="5120640" y="2286000"/>
            <a:ext cx="2011680" cy="1828800"/>
          </a:xfrm>
          <a:prstGeom prst="rect">
            <a:avLst/>
          </a:prstGeom>
          <a:noFill/>
        </p:spPr>
        <p:txBody>
          <a:bodyPr wrap="square">
            <a:spAutoFit/>
          </a:bodyPr>
          <a:lstStyle/>
          <a:p>
            <a:pPr algn="l">
              <a:spcAft>
                <a:spcPts val="600"/>
              </a:spcAft>
            </a:pPr>
            <a:r>
              <a:rPr sz="4000" b="1">
                <a:solidFill>
                  <a:srgbClr val="0F6E8C"/>
                </a:solidFill>
                <a:latin typeface="Consolas"/>
              </a:rPr>
              <a:t>0</a:t>
            </a:r>
          </a:p>
          <a:p>
            <a:pPr algn="l">
              <a:lnSpc>
                <a:spcPct val="120000"/>
              </a:lnSpc>
              <a:spcAft>
                <a:spcPts val="100"/>
              </a:spcAft>
            </a:pPr>
            <a:r>
              <a:rPr sz="1200" b="0">
                <a:solidFill>
                  <a:srgbClr val="59636F"/>
                </a:solidFill>
                <a:latin typeface="Segoe UI"/>
              </a:rPr>
              <a:t>malformed</a:t>
            </a:r>
          </a:p>
          <a:p>
            <a:pPr algn="l">
              <a:lnSpc>
                <a:spcPct val="120000"/>
              </a:lnSpc>
              <a:spcAft>
                <a:spcPts val="100"/>
              </a:spcAft>
            </a:pPr>
            <a:r>
              <a:rPr sz="1200" b="0">
                <a:solidFill>
                  <a:srgbClr val="59636F"/>
                </a:solidFill>
                <a:latin typeface="Segoe UI"/>
              </a:rPr>
              <a:t>predictions</a:t>
            </a:r>
          </a:p>
        </p:txBody>
      </p:sp>
      <p:sp>
        <p:nvSpPr>
          <p:cNvPr id="7" name="TextBox 6"/>
          <p:cNvSpPr txBox="1"/>
          <p:nvPr/>
        </p:nvSpPr>
        <p:spPr>
          <a:xfrm>
            <a:off x="7269480" y="2286000"/>
            <a:ext cx="2011680" cy="1828800"/>
          </a:xfrm>
          <a:prstGeom prst="rect">
            <a:avLst/>
          </a:prstGeom>
          <a:noFill/>
        </p:spPr>
        <p:txBody>
          <a:bodyPr wrap="square">
            <a:spAutoFit/>
          </a:bodyPr>
          <a:lstStyle/>
          <a:p>
            <a:pPr algn="l">
              <a:spcAft>
                <a:spcPts val="600"/>
              </a:spcAft>
            </a:pPr>
            <a:r>
              <a:rPr sz="4000" b="1">
                <a:solidFill>
                  <a:srgbClr val="0F6E8C"/>
                </a:solidFill>
                <a:latin typeface="Consolas"/>
              </a:rPr>
              <a:t>15</a:t>
            </a:r>
          </a:p>
          <a:p>
            <a:pPr algn="l">
              <a:lnSpc>
                <a:spcPct val="120000"/>
              </a:lnSpc>
              <a:spcAft>
                <a:spcPts val="100"/>
              </a:spcAft>
            </a:pPr>
            <a:r>
              <a:rPr sz="1200" b="0">
                <a:solidFill>
                  <a:srgbClr val="59636F"/>
                </a:solidFill>
                <a:latin typeface="Segoe UI"/>
              </a:rPr>
              <a:t>preregistered decisions,</a:t>
            </a:r>
          </a:p>
          <a:p>
            <a:pPr algn="l">
              <a:lnSpc>
                <a:spcPct val="120000"/>
              </a:lnSpc>
              <a:spcAft>
                <a:spcPts val="100"/>
              </a:spcAft>
            </a:pPr>
            <a:r>
              <a:rPr sz="1200" b="0">
                <a:solidFill>
                  <a:srgbClr val="59636F"/>
                </a:solidFill>
                <a:latin typeface="Segoe UI"/>
              </a:rPr>
              <a:t>8 logged amendments</a:t>
            </a:r>
          </a:p>
        </p:txBody>
      </p:sp>
      <p:sp>
        <p:nvSpPr>
          <p:cNvPr id="8" name="TextBox 7"/>
          <p:cNvSpPr txBox="1"/>
          <p:nvPr/>
        </p:nvSpPr>
        <p:spPr>
          <a:xfrm>
            <a:off x="9418320" y="2286000"/>
            <a:ext cx="2011680" cy="1828800"/>
          </a:xfrm>
          <a:prstGeom prst="rect">
            <a:avLst/>
          </a:prstGeom>
          <a:noFill/>
        </p:spPr>
        <p:txBody>
          <a:bodyPr wrap="square">
            <a:spAutoFit/>
          </a:bodyPr>
          <a:lstStyle/>
          <a:p>
            <a:pPr algn="l">
              <a:spcAft>
                <a:spcPts val="600"/>
              </a:spcAft>
            </a:pPr>
            <a:r>
              <a:rPr sz="4000" b="1">
                <a:solidFill>
                  <a:srgbClr val="B03A26"/>
                </a:solidFill>
                <a:latin typeface="Consolas"/>
              </a:rPr>
              <a:t>2</a:t>
            </a:r>
          </a:p>
          <a:p>
            <a:pPr algn="l">
              <a:lnSpc>
                <a:spcPct val="120000"/>
              </a:lnSpc>
              <a:spcAft>
                <a:spcPts val="100"/>
              </a:spcAft>
            </a:pPr>
            <a:r>
              <a:rPr sz="1200" b="0">
                <a:solidFill>
                  <a:srgbClr val="59636F"/>
                </a:solidFill>
                <a:latin typeface="Segoe UI"/>
              </a:rPr>
              <a:t>artifacts caught before</a:t>
            </a:r>
          </a:p>
          <a:p>
            <a:pPr algn="l">
              <a:lnSpc>
                <a:spcPct val="120000"/>
              </a:lnSpc>
              <a:spcAft>
                <a:spcPts val="100"/>
              </a:spcAft>
            </a:pPr>
            <a:r>
              <a:rPr sz="1200" b="0">
                <a:solidFill>
                  <a:srgbClr val="59636F"/>
                </a:solidFill>
                <a:latin typeface="Segoe UI"/>
              </a:rPr>
              <a:t>they became findings</a:t>
            </a:r>
          </a:p>
        </p:txBody>
      </p:sp>
      <p:sp>
        <p:nvSpPr>
          <p:cNvPr id="9" name="TextBox 8"/>
          <p:cNvSpPr txBox="1"/>
          <p:nvPr/>
        </p:nvSpPr>
        <p:spPr>
          <a:xfrm>
            <a:off x="822960" y="4572000"/>
            <a:ext cx="8778240" cy="1280160"/>
          </a:xfrm>
          <a:prstGeom prst="rect">
            <a:avLst/>
          </a:prstGeom>
          <a:noFill/>
        </p:spPr>
        <p:txBody>
          <a:bodyPr wrap="square">
            <a:spAutoFit/>
          </a:bodyPr>
          <a:lstStyle/>
          <a:p>
            <a:pPr algn="l">
              <a:lnSpc>
                <a:spcPct val="130000"/>
              </a:lnSpc>
              <a:spcAft>
                <a:spcPts val="1200"/>
              </a:spcAft>
            </a:pPr>
            <a:r>
              <a:rPr sz="1400" b="0">
                <a:solidFill>
                  <a:srgbClr val="12171F"/>
                </a:solidFill>
                <a:latin typeface="Segoe UI"/>
              </a:rPr>
              <a:t>Every call logged append-only with returned model, provider, tokens, cost and prompt hash. Provider pinned with fallbacks disabled — if generator and self-predictor were served at different quantizations, “same weights” would be false.</a:t>
            </a:r>
          </a:p>
        </p:txBody>
      </p:sp>
      <p:sp>
        <p:nvSpPr>
          <p:cNvPr id="10" name="TextBox 9"/>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09</a:t>
            </a:r>
          </a:p>
        </p:txBody>
      </p:sp>
      <p:sp>
        <p:nvSpPr>
          <p:cNvPr id="11" name="Rectangle 10"/>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545775" cy="365760"/>
          </a:xfrm>
          <a:prstGeom prst="rect">
            <a:avLst/>
          </a:prstGeom>
          <a:noFill/>
        </p:spPr>
        <p:txBody>
          <a:bodyPr wrap="square">
            <a:spAutoFit/>
          </a:bodyPr>
          <a:lstStyle/>
          <a:p>
            <a:pPr algn="l">
              <a:spcAft>
                <a:spcPts val="800"/>
              </a:spcAft>
            </a:pPr>
            <a:r>
              <a:rPr sz="1100" b="0" spc="140">
                <a:solidFill>
                  <a:srgbClr val="59636F"/>
                </a:solidFill>
                <a:latin typeface="Consolas"/>
              </a:rPr>
              <a:t>TAKEAWAY</a:t>
            </a:r>
          </a:p>
        </p:txBody>
      </p:sp>
      <p:sp>
        <p:nvSpPr>
          <p:cNvPr id="3" name="TextBox 2"/>
          <p:cNvSpPr txBox="1"/>
          <p:nvPr/>
        </p:nvSpPr>
        <p:spPr>
          <a:xfrm>
            <a:off x="822960" y="1463040"/>
            <a:ext cx="10545775" cy="1371600"/>
          </a:xfrm>
          <a:prstGeom prst="rect">
            <a:avLst/>
          </a:prstGeom>
          <a:noFill/>
        </p:spPr>
        <p:txBody>
          <a:bodyPr wrap="square">
            <a:spAutoFit/>
          </a:bodyPr>
          <a:lstStyle/>
          <a:p>
            <a:pPr algn="l">
              <a:lnSpc>
                <a:spcPct val="105000"/>
              </a:lnSpc>
              <a:spcAft>
                <a:spcPts val="800"/>
              </a:spcAft>
            </a:pPr>
            <a:r>
              <a:rPr sz="4800" b="1">
                <a:solidFill>
                  <a:srgbClr val="12171F"/>
                </a:solidFill>
                <a:latin typeface="Georgia"/>
              </a:rPr>
              <a:t>Ask the model. Then ask a regression.</a:t>
            </a:r>
          </a:p>
        </p:txBody>
      </p:sp>
      <p:sp>
        <p:nvSpPr>
          <p:cNvPr id="4" name="TextBox 3"/>
          <p:cNvSpPr txBox="1"/>
          <p:nvPr/>
        </p:nvSpPr>
        <p:spPr>
          <a:xfrm>
            <a:off x="822960" y="3200400"/>
            <a:ext cx="8961120" cy="2011680"/>
          </a:xfrm>
          <a:prstGeom prst="rect">
            <a:avLst/>
          </a:prstGeom>
          <a:noFill/>
        </p:spPr>
        <p:txBody>
          <a:bodyPr wrap="square">
            <a:spAutoFit/>
          </a:bodyPr>
          <a:lstStyle/>
          <a:p>
            <a:pPr algn="l">
              <a:lnSpc>
                <a:spcPct val="130000"/>
              </a:lnSpc>
              <a:spcAft>
                <a:spcPts val="1800"/>
              </a:spcAft>
            </a:pPr>
            <a:r>
              <a:rPr sz="2100" b="0">
                <a:solidFill>
                  <a:srgbClr val="59636F"/>
                </a:solidFill>
                <a:latin typeface="Segoe UI"/>
              </a:rPr>
              <a:t>If eighteen surface features beat the model at recognising its own writing, an above-chance self-report is not evidence of privileged access.</a:t>
            </a:r>
          </a:p>
          <a:p>
            <a:pPr algn="l">
              <a:lnSpc>
                <a:spcPct val="135000"/>
              </a:lnSpc>
              <a:spcAft>
                <a:spcPts val="800"/>
              </a:spcAft>
            </a:pPr>
            <a:r>
              <a:rPr sz="1600" b="0">
                <a:solidFill>
                  <a:srgbClr val="12171F"/>
                </a:solidFill>
                <a:latin typeface="Segoe UI"/>
              </a:rPr>
              <a:t>Fit the baseline per condition, on the same stimuli. Print the answer distribution next to every accuracy. Both are free, and in our hands both were decisive.</a:t>
            </a:r>
          </a:p>
        </p:txBody>
      </p:sp>
      <p:sp>
        <p:nvSpPr>
          <p:cNvPr id="5" name="TextBox 4"/>
          <p:cNvSpPr txBox="1"/>
          <p:nvPr/>
        </p:nvSpPr>
        <p:spPr>
          <a:xfrm>
            <a:off x="822960" y="6172200"/>
            <a:ext cx="1828800" cy="320040"/>
          </a:xfrm>
          <a:prstGeom prst="rect">
            <a:avLst/>
          </a:prstGeom>
          <a:noFill/>
        </p:spPr>
        <p:txBody>
          <a:bodyPr wrap="square">
            <a:spAutoFit/>
          </a:bodyPr>
          <a:lstStyle/>
          <a:p>
            <a:pPr algn="l">
              <a:spcAft>
                <a:spcPts val="800"/>
              </a:spcAft>
            </a:pPr>
            <a:r>
              <a:rPr sz="1100" b="0" spc="80">
                <a:solidFill>
                  <a:srgbClr val="0F6E8C"/>
                </a:solidFill>
                <a:latin typeface="Consolas"/>
              </a:rPr>
              <a:t>10</a:t>
            </a:r>
          </a:p>
        </p:txBody>
      </p:sp>
      <p:sp>
        <p:nvSpPr>
          <p:cNvPr id="6" name="Rectangle 5"/>
          <p:cNvSpPr/>
          <p:nvPr/>
        </p:nvSpPr>
        <p:spPr>
          <a:xfrm>
            <a:off x="822960" y="5989320"/>
            <a:ext cx="10545775" cy="9525"/>
          </a:xfrm>
          <a:prstGeom prst="rect">
            <a:avLst/>
          </a:prstGeom>
          <a:solidFill>
            <a:srgbClr val="DC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